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478fb99-4fee-c33b-5fcc-e7211e5f1cab}">
          <p14:sldIdLst>
            <p14:sldId id="256"/>
            <p14:sldId id="257"/>
          </p14:sldIdLst>
        </p14:section>
        <p14:section name="Method" id="{f7d8728f-ebf3-3cb5-6b63-ee853b30e222}">
          <p14:sldIdLst>
            <p14:sldId id="258"/>
            <p14:sldId id="259"/>
          </p14:sldIdLst>
        </p14:section>
        <p14:section name="Results" id="{dea59104-f444-b540-32ab-1df88f02b6c3}">
          <p14:sldIdLst>
            <p14:sldId id="260"/>
            <p14:sldId id="261"/>
            <p14:sldId id="262"/>
            <p14:sldId id="263"/>
            <p14:sldId id="264"/>
          </p14:sldIdLst>
        </p14:section>
        <p14:section name="Conclusion" id="{f94a6923-1714-ea5f-b0ec-bbff9bf0c56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1A1C"/>
                </a:solidFill>
                <a:latin typeface="+mn-lt"/>
              </a:defRPr>
            </a:pPr>
            <a:r>
              <a:rPr sz="1400" b="0" i="0" u="none" strike="noStrike">
                <a:solidFill>
                  <a:srgbClr val="1E1A1C"/>
                </a:solidFill>
                <a:latin typeface="+mn-lt"/>
              </a:rPr>
              <a:t>F1 score</a:t>
            </a:r>
          </a:p>
        </c:rich>
      </c:tx>
      <c:layout/>
      <c:overlay val="0"/>
    </c:title>
    <c:autoTitleDeleted val="0"/>
    <c:plotArea>
      <c:layout/>
      <c:barChart>
        <c:barDir val="bar"/>
        <c:grouping val="clustered"/>
        <c:varyColors val="0"/>
        <c:ser>
          <c:idx val="0"/>
          <c:order val="0"/>
          <c:tx>
            <c:strRef>
              <c:f>Sheet1!$B$1</c:f>
              <c:strCache>
                <c:ptCount val="1"/>
                <c:pt idx="0">
                  <c:v>F1</c:v>
                </c:pt>
              </c:strCache>
            </c:strRef>
          </c:tx>
          <c:spPr>
            <a:solidFill>
              <a:srgbClr val="6B6B6B"/>
            </a:solidFill>
            <a:effectLst/>
          </c:spPr>
          <c:invertIfNegative val="0"/>
          <c:dLbls>
            <c:numFmt formatCode="0.000" sourceLinked="0"/>
            <c:txPr>
              <a:bodyPr/>
              <a:lstStyle/>
              <a:p>
                <a:pPr>
                  <a:defRPr b="0" i="0" strike="noStrike" sz="1200" u="none">
                    <a:solidFill>
                      <a:srgbClr val="1E1A1C"/>
                    </a:solidFill>
                    <a:latin typeface="+mn-lt"/>
                  </a:defRPr>
                </a:pPr>
              </a:p>
            </c:txPr>
            <c:showLegendKey val="0"/>
            <c:showVal val="1"/>
            <c:showCatName val="0"/>
            <c:showSerName val="0"/>
            <c:showPercent val="0"/>
            <c:showBubbleSize val="0"/>
            <c:showLeaderLines val="0"/>
          </c:dLbls>
          <c:dPt>
            <c:idx val="0"/>
            <c:invertIfNegative val="0"/>
            <c:bubble3D val="0"/>
            <c:spPr>
              <a:solidFill>
                <a:srgbClr val="6B6B6B"/>
              </a:solidFill>
              <a:effectLst/>
            </c:spPr>
          </c:dPt>
          <c:dPt>
            <c:idx val="1"/>
            <c:invertIfNegative val="0"/>
            <c:bubble3D val="0"/>
            <c:spPr>
              <a:solidFill>
                <a:srgbClr val="2F3C7E"/>
              </a:solidFill>
              <a:effectLst/>
            </c:spPr>
          </c:dPt>
          <c:dPt>
            <c:idx val="2"/>
            <c:invertIfNegative val="0"/>
            <c:bubble3D val="0"/>
            <c:spPr>
              <a:solidFill>
                <a:srgbClr val="A26769"/>
              </a:solidFill>
              <a:effectLst/>
            </c:spPr>
          </c:dPt>
          <c:dPt>
            <c:idx val="3"/>
            <c:invertIfNegative val="0"/>
            <c:bubble3D val="0"/>
            <c:spPr>
              <a:solidFill>
                <a:srgbClr val="6D2E46"/>
              </a:solidFill>
              <a:effectLst/>
            </c:spPr>
          </c:dPt>
          <c:cat>
            <c:multiLvlStrRef>
              <c:f>Sheet1!$A$2:$A$5</c:f>
              <c:multiLvlStrCache>
                <c:ptCount val="4"/>
                <c:lvl>
                  <c:pt idx="0">
                    <c:v>Tools only</c:v>
                  </c:pt>
                  <c:pt idx="1">
                    <c:v>TF-IDF baseline</c:v>
                  </c:pt>
                  <c:pt idx="2">
                    <c:v>LLM only</c:v>
                  </c:pt>
                  <c:pt idx="3">
                    <c:v>Full system</c:v>
                  </c:pt>
                </c:lvl>
              </c:multiLvlStrCache>
            </c:multiLvlStrRef>
          </c:cat>
          <c:val>
            <c:numRef>
              <c:f>Sheet1!$B$2:$B$5</c:f>
              <c:numCache>
                <c:formatCode>General</c:formatCode>
                <c:ptCount val="4"/>
                <c:pt idx="0">
                  <c:v>0.413</c:v>
                </c:pt>
                <c:pt idx="1">
                  <c:v>0.99</c:v>
                </c:pt>
                <c:pt idx="2">
                  <c:v>0.969</c:v>
                </c:pt>
                <c:pt idx="3">
                  <c:v>0.958</c:v>
                </c:pt>
              </c:numCache>
            </c:numRef>
          </c:val>
        </c:ser>
        <c:dLbls>
          <c:numFmt formatCode="0.000" sourceLinked="0"/>
          <c:txPr>
            <a:bodyPr/>
            <a:lstStyle/>
            <a:p>
              <a:pPr>
                <a:defRPr b="0" i="0" strike="noStrike" sz="1200" u="none">
                  <a:solidFill>
                    <a:srgbClr val="1E1A1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A1C"/>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 phishing detector that doesn't just say phishing or not, but explains why, with evidence from the email. It runs on three cooperating agents using Google's free Gemini tier, and I compare it with simpler alternatives on the same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outputs. The score comes from the model, but Python turns it into the label, with 70 and above as phishing and 40 to 69 as suspicious, so the label can never contradict the score. Every quote the model gives is checked against the email and dropped if it isn't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Analyst is plain Python: no LLM, same answer every time. The Content Analyst reads the text. Python, not an LLM, decides whether they disagree. If they do, the Verdict agent may ask one question to one analyst. That follow-up is a single if-statement, not a loop, so there's no code path to a second round, and an email never costs more than four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public corpus with full headers has phishing and legitimate mail from the same years. So the phishing is modern and the legitimate mail is from around 2002. That is the biggest threat to the results, and I tried to blunt it by hiding the parts of the email that give the era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paper the baseline wins with an F1 of 0.99. The tools alone are precise but catch only about a quarter of the phishing, because much phishing has no technical trick in it. Both LLM configurations sit around 0.96 to 0.97. Next slide: why I don't trust the baseline's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the era gap I ran all four configurations on 20 modern legitimate emails: password resets, receipts, verification codes. The baseline flags 17 of 20. Its top legitimate features are 2002 mailing-list words, so it learned 'old mailing list or not'. The LLM configurations and the tools flag none. These emails are synthetic, written by Claude, and I disclose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headline. The full agent system costs 2.8 times the requests of a single prompt and is slightly worse, though one email either way is within noise. False positives here cover the 50 legitimate subset emails plus the 20 robustness emails. The disagreement round fired 38 times and changed four labels, and three of those four moved the score down on emails that were all phishing.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behind the misses. First, the verdict treats passing authentication as a good sign, but it only proves the mail came from the domain it claims. Second, on the MetaMask lure the follow-up round asked the content analyst, believed its benign reading and pushed a correct 'suspicious' down to legitimate. Third, one phish hides its attack in an attachment, which the parser never reads. I reported these rather than tuning prompts on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says whether a verdict is right. This asks whether the explanation would help a reader. When the verdict is right the explanations are strong, with real quotes and specific signals. The misses are weaker in different ways: one lists red flags and still says legitimate, and the other tells the reader no action is needed on a phishing attachment.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A near-perfect score can come from a shortcut in the data, which only showed up when I tested on different data. On this data a single prompt beats the agent system on cost and matches it on accuracy. The agents are easier to audit, but the follow-up round needs fixing before it earns its requests. The next steps are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1554480"/>
          </a:xfrm>
          <a:prstGeom prst="rect">
            <a:avLst/>
          </a:prstGeom>
          <a:noFill/>
          <a:ln/>
        </p:spPr>
        <p:txBody>
          <a:bodyPr wrap="square" rtlCol="0"/>
          <a:lstStyle>
            <a:lvl1pPr indent="0" marL="0">
              <a:buNone/>
              <a:defRPr lang="en-US" sz="3800" b="1" dirty="0">
                <a:solidFill>
                  <a:schemeClr val="bg1"/>
                </a:solidFill>
              </a:defRPr>
            </a:lvl1pPr>
          </a:lstStyle>
          <a:p>
            <a:pPr indent="0" marL="0">
              <a:buNone/>
            </a:pPr>
            <a:endParaRPr lang="en-US" sz="3800" dirty="0"/>
          </a:p>
        </p:txBody>
      </p:sp>
      <p:sp>
        <p:nvSpPr>
          <p:cNvPr id="3" name="Text 0"/>
          <p:cNvSpPr/>
          <p:nvPr>
            <p:ph idx="101" type="body" hasCustomPrompt="1"/>
          </p:nvPr>
        </p:nvSpPr>
        <p:spPr>
          <a:xfrm>
            <a:off x="548640" y="2926080"/>
            <a:ext cx="7315200" cy="91440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accent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1554480"/>
          </a:xfrm>
          <a:prstGeom prst="rect">
            <a:avLst/>
          </a:prstGeom>
          <a:noFill/>
          <a:ln/>
        </p:spPr>
        <p:txBody>
          <a:bodyPr wrap="square" lIns="0" tIns="0" rIns="0" bIns="0" rtlCol="0" anchor="b"/>
          <a:lstStyle/>
          <a:p>
            <a:pPr indent="0" marL="0">
              <a:buNone/>
            </a:pPr>
            <a:r>
              <a:rPr lang="en-US" sz="3800" b="1" dirty="0">
                <a:solidFill>
                  <a:schemeClr val="bg1"/>
                </a:solidFill>
              </a:rPr>
              <a:t>Agentic Phishing Email Detection and Explanation</a:t>
            </a:r>
            <a:endParaRPr lang="en-US" sz="3800" dirty="0"/>
          </a:p>
        </p:txBody>
      </p:sp>
      <p:sp>
        <p:nvSpPr>
          <p:cNvPr id="3" name="Text 0"/>
          <p:cNvSpPr/>
          <p:nvPr>
            <p:ph idx="101" type="body" hasCustomPrompt="1"/>
          </p:nvPr>
        </p:nvSpPr>
        <p:spPr>
          <a:xfrm>
            <a:off x="548640" y="2926080"/>
            <a:ext cx="7315200" cy="914400"/>
          </a:xfrm>
          <a:prstGeom prst="rect">
            <a:avLst/>
          </a:prstGeom>
          <a:noFill/>
          <a:ln/>
        </p:spPr>
        <p:txBody>
          <a:bodyPr wrap="square" lIns="0" tIns="0" rIns="0" bIns="0" rtlCol="0" anchor="t"/>
          <a:lstStyle/>
          <a:p>
            <a:pPr indent="0" marL="0">
              <a:buNone/>
            </a:pPr>
            <a:r>
              <a:rPr lang="en-US" sz="1800" dirty="0">
                <a:solidFill>
                  <a:schemeClr val="accent4"/>
                </a:solidFill>
              </a:rPr>
              <a:t>Three CrewAI agents on the Gemini free tier, tested against one prompt, plain rules and a word-count classifier</a:t>
            </a:r>
            <a:endParaRPr lang="en-US" sz="1800" dirty="0"/>
          </a:p>
        </p:txBody>
      </p:sp>
      <p:sp>
        <p:nvSpPr>
          <p:cNvPr id="4" name="Footer"/>
          <p:cNvSpPr txBox="1"/>
          <p:nvPr/>
        </p:nvSpPr>
        <p:spPr>
          <a:xfrm>
            <a:off x="548640" y="4389120"/>
            <a:ext cx="5486400" cy="274320"/>
          </a:xfrm>
          <a:prstGeom prst="rect">
            <a:avLst/>
          </a:prstGeom>
          <a:noFill/>
          <a:ln/>
        </p:spPr>
        <p:txBody>
          <a:bodyPr wrap="square" lIns="0" tIns="0" rIns="0" bIns="0" rtlCol="0" anchor="t"/>
          <a:lstStyle/>
          <a:p>
            <a:pPr indent="0" marL="0">
              <a:buNone/>
            </a:pPr>
            <a:r>
              <a:rPr lang="en-US" sz="1200" dirty="0">
                <a:solidFill>
                  <a:schemeClr val="accent4"/>
                </a:solidFill>
              </a:rPr>
              <a:t>College AI project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rPr>
              <a:t>What the system returns for each email</a:t>
            </a:r>
            <a:endParaRPr lang="en-US" sz="3000" dirty="0"/>
          </a:p>
        </p:txBody>
      </p:sp>
      <p:sp>
        <p:nvSpPr>
          <p:cNvPr id="3" name="Output card 1"/>
          <p:cNvSpPr/>
          <p:nvPr/>
        </p:nvSpPr>
        <p:spPr>
          <a:xfrm>
            <a:off x="457200" y="1234440"/>
            <a:ext cx="1874520" cy="2331720"/>
          </a:xfrm>
          <a:prstGeom prst="roundRect">
            <a:avLst>
              <a:gd name="adj" fmla="val 390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Output 1 circle"/>
          <p:cNvSpPr/>
          <p:nvPr/>
        </p:nvSpPr>
        <p:spPr>
          <a:xfrm>
            <a:off x="640080" y="1417320"/>
            <a:ext cx="457200" cy="457200"/>
          </a:xfrm>
          <a:prstGeom prst="ellipse">
            <a:avLst/>
          </a:prstGeom>
          <a:solidFill>
            <a:schemeClr val="accent1"/>
          </a:solidFill>
          <a:ln w="12700">
            <a:solidFill>
              <a:schemeClr val="accent1"/>
            </a:solidFill>
            <a:prstDash val="solid"/>
          </a:ln>
        </p:spPr>
      </p:sp>
      <p:sp>
        <p:nvSpPr>
          <p:cNvPr id="5" name="Output 1 label"/>
          <p:cNvSpPr txBox="1"/>
          <p:nvPr/>
        </p:nvSpPr>
        <p:spPr>
          <a:xfrm>
            <a:off x="640080" y="1417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6" name="Output 1 heading"/>
          <p:cNvSpPr txBox="1"/>
          <p:nvPr/>
        </p:nvSpPr>
        <p:spPr>
          <a:xfrm>
            <a:off x="640080" y="2011680"/>
            <a:ext cx="155448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Verdict</a:t>
            </a:r>
            <a:endParaRPr lang="en-US" sz="1800" dirty="0"/>
          </a:p>
        </p:txBody>
      </p:sp>
      <p:sp>
        <p:nvSpPr>
          <p:cNvPr id="7" name="Output 1 body"/>
          <p:cNvSpPr txBox="1"/>
          <p:nvPr/>
        </p:nvSpPr>
        <p:spPr>
          <a:xfrm>
            <a:off x="640080" y="2423160"/>
            <a:ext cx="1554480" cy="1051560"/>
          </a:xfrm>
          <a:prstGeom prst="rect">
            <a:avLst/>
          </a:prstGeom>
          <a:noFill/>
          <a:ln/>
        </p:spPr>
        <p:txBody>
          <a:bodyPr wrap="square" lIns="0" tIns="0" rIns="0" bIns="0" rtlCol="0" anchor="t"/>
          <a:lstStyle/>
          <a:p>
            <a:pPr indent="0" marL="0">
              <a:buNone/>
            </a:pPr>
            <a:r>
              <a:rPr lang="en-US" sz="1400" dirty="0">
                <a:solidFill>
                  <a:schemeClr val="tx1"/>
                </a:solidFill>
              </a:rPr>
              <a:t>Phishing, suspicious or legitimate</a:t>
            </a:r>
            <a:endParaRPr lang="en-US" sz="1400" dirty="0"/>
          </a:p>
        </p:txBody>
      </p:sp>
      <p:sp>
        <p:nvSpPr>
          <p:cNvPr id="8" name="Output card 2"/>
          <p:cNvSpPr/>
          <p:nvPr/>
        </p:nvSpPr>
        <p:spPr>
          <a:xfrm>
            <a:off x="2560320" y="1234440"/>
            <a:ext cx="1874520" cy="2331720"/>
          </a:xfrm>
          <a:prstGeom prst="roundRect">
            <a:avLst>
              <a:gd name="adj" fmla="val 390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Output 2 circle"/>
          <p:cNvSpPr/>
          <p:nvPr/>
        </p:nvSpPr>
        <p:spPr>
          <a:xfrm>
            <a:off x="2743200" y="1417320"/>
            <a:ext cx="457200" cy="457200"/>
          </a:xfrm>
          <a:prstGeom prst="ellipse">
            <a:avLst/>
          </a:prstGeom>
          <a:solidFill>
            <a:schemeClr val="accent1"/>
          </a:solidFill>
          <a:ln w="12700">
            <a:solidFill>
              <a:schemeClr val="accent1"/>
            </a:solidFill>
            <a:prstDash val="solid"/>
          </a:ln>
        </p:spPr>
      </p:sp>
      <p:sp>
        <p:nvSpPr>
          <p:cNvPr id="10" name="Output 2 label"/>
          <p:cNvSpPr txBox="1"/>
          <p:nvPr/>
        </p:nvSpPr>
        <p:spPr>
          <a:xfrm>
            <a:off x="2743200" y="1417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11" name="Output 2 heading"/>
          <p:cNvSpPr txBox="1"/>
          <p:nvPr/>
        </p:nvSpPr>
        <p:spPr>
          <a:xfrm>
            <a:off x="2743200" y="2011680"/>
            <a:ext cx="155448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Risk score</a:t>
            </a:r>
            <a:endParaRPr lang="en-US" sz="1800" dirty="0"/>
          </a:p>
        </p:txBody>
      </p:sp>
      <p:sp>
        <p:nvSpPr>
          <p:cNvPr id="12" name="Output 2 body"/>
          <p:cNvSpPr txBox="1"/>
          <p:nvPr/>
        </p:nvSpPr>
        <p:spPr>
          <a:xfrm>
            <a:off x="2743200" y="2423160"/>
            <a:ext cx="1554480" cy="1051560"/>
          </a:xfrm>
          <a:prstGeom prst="rect">
            <a:avLst/>
          </a:prstGeom>
          <a:noFill/>
          <a:ln/>
        </p:spPr>
        <p:txBody>
          <a:bodyPr wrap="square" lIns="0" tIns="0" rIns="0" bIns="0" rtlCol="0" anchor="t"/>
          <a:lstStyle/>
          <a:p>
            <a:pPr indent="0" marL="0">
              <a:buNone/>
            </a:pPr>
            <a:r>
              <a:rPr lang="en-US" sz="1400" dirty="0">
                <a:solidFill>
                  <a:schemeClr val="tx1"/>
                </a:solidFill>
              </a:rPr>
              <a:t>0 to 100. Python maps it to the verdict, so the two always agree</a:t>
            </a:r>
            <a:endParaRPr lang="en-US" sz="1400" dirty="0"/>
          </a:p>
        </p:txBody>
      </p:sp>
      <p:sp>
        <p:nvSpPr>
          <p:cNvPr id="13" name="Output card 3"/>
          <p:cNvSpPr/>
          <p:nvPr/>
        </p:nvSpPr>
        <p:spPr>
          <a:xfrm>
            <a:off x="4663440" y="1234440"/>
            <a:ext cx="1874520" cy="2331720"/>
          </a:xfrm>
          <a:prstGeom prst="roundRect">
            <a:avLst>
              <a:gd name="adj" fmla="val 390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Output 3 circle"/>
          <p:cNvSpPr/>
          <p:nvPr/>
        </p:nvSpPr>
        <p:spPr>
          <a:xfrm>
            <a:off x="4846320" y="1417320"/>
            <a:ext cx="457200" cy="457200"/>
          </a:xfrm>
          <a:prstGeom prst="ellipse">
            <a:avLst/>
          </a:prstGeom>
          <a:solidFill>
            <a:schemeClr val="accent1"/>
          </a:solidFill>
          <a:ln w="12700">
            <a:solidFill>
              <a:schemeClr val="accent1"/>
            </a:solidFill>
            <a:prstDash val="solid"/>
          </a:ln>
        </p:spPr>
      </p:sp>
      <p:sp>
        <p:nvSpPr>
          <p:cNvPr id="15" name="Output 3 label"/>
          <p:cNvSpPr txBox="1"/>
          <p:nvPr/>
        </p:nvSpPr>
        <p:spPr>
          <a:xfrm>
            <a:off x="4846320" y="1417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16" name="Output 3 heading"/>
          <p:cNvSpPr txBox="1"/>
          <p:nvPr/>
        </p:nvSpPr>
        <p:spPr>
          <a:xfrm>
            <a:off x="4846320" y="2011680"/>
            <a:ext cx="155448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Reasons</a:t>
            </a:r>
            <a:endParaRPr lang="en-US" sz="1800" dirty="0"/>
          </a:p>
        </p:txBody>
      </p:sp>
      <p:sp>
        <p:nvSpPr>
          <p:cNvPr id="17" name="Output 3 body"/>
          <p:cNvSpPr txBox="1"/>
          <p:nvPr/>
        </p:nvSpPr>
        <p:spPr>
          <a:xfrm>
            <a:off x="4846320" y="2423160"/>
            <a:ext cx="1554480" cy="1051560"/>
          </a:xfrm>
          <a:prstGeom prst="rect">
            <a:avLst/>
          </a:prstGeom>
          <a:noFill/>
          <a:ln/>
        </p:spPr>
        <p:txBody>
          <a:bodyPr wrap="square" lIns="0" tIns="0" rIns="0" bIns="0" rtlCol="0" anchor="t"/>
          <a:lstStyle/>
          <a:p>
            <a:pPr indent="0" marL="0">
              <a:buNone/>
            </a:pPr>
            <a:r>
              <a:rPr lang="en-US" sz="1400" dirty="0">
                <a:solidFill>
                  <a:schemeClr val="tx1"/>
                </a:solidFill>
              </a:rPr>
              <a:t>Plain-English sentences, each tied to a quote checked against the email</a:t>
            </a:r>
            <a:endParaRPr lang="en-US" sz="1400" dirty="0"/>
          </a:p>
        </p:txBody>
      </p:sp>
      <p:sp>
        <p:nvSpPr>
          <p:cNvPr id="18" name="Output card 4"/>
          <p:cNvSpPr/>
          <p:nvPr/>
        </p:nvSpPr>
        <p:spPr>
          <a:xfrm>
            <a:off x="6766560" y="1234440"/>
            <a:ext cx="1874520" cy="2331720"/>
          </a:xfrm>
          <a:prstGeom prst="roundRect">
            <a:avLst>
              <a:gd name="adj" fmla="val 390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Output 4 circle"/>
          <p:cNvSpPr/>
          <p:nvPr/>
        </p:nvSpPr>
        <p:spPr>
          <a:xfrm>
            <a:off x="6949440" y="1417320"/>
            <a:ext cx="457200" cy="457200"/>
          </a:xfrm>
          <a:prstGeom prst="ellipse">
            <a:avLst/>
          </a:prstGeom>
          <a:solidFill>
            <a:schemeClr val="accent1"/>
          </a:solidFill>
          <a:ln w="12700">
            <a:solidFill>
              <a:schemeClr val="accent1"/>
            </a:solidFill>
            <a:prstDash val="solid"/>
          </a:ln>
        </p:spPr>
      </p:sp>
      <p:sp>
        <p:nvSpPr>
          <p:cNvPr id="20" name="Output 4 label"/>
          <p:cNvSpPr txBox="1"/>
          <p:nvPr/>
        </p:nvSpPr>
        <p:spPr>
          <a:xfrm>
            <a:off x="6949440" y="1417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21" name="Output 4 heading"/>
          <p:cNvSpPr txBox="1"/>
          <p:nvPr/>
        </p:nvSpPr>
        <p:spPr>
          <a:xfrm>
            <a:off x="6949440" y="2011680"/>
            <a:ext cx="155448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Action</a:t>
            </a:r>
            <a:endParaRPr lang="en-US" sz="1800" dirty="0"/>
          </a:p>
        </p:txBody>
      </p:sp>
      <p:sp>
        <p:nvSpPr>
          <p:cNvPr id="22" name="Output 4 body"/>
          <p:cNvSpPr txBox="1"/>
          <p:nvPr/>
        </p:nvSpPr>
        <p:spPr>
          <a:xfrm>
            <a:off x="6949440" y="2423160"/>
            <a:ext cx="1554480" cy="1051560"/>
          </a:xfrm>
          <a:prstGeom prst="rect">
            <a:avLst/>
          </a:prstGeom>
          <a:noFill/>
          <a:ln/>
        </p:spPr>
        <p:txBody>
          <a:bodyPr wrap="square" lIns="0" tIns="0" rIns="0" bIns="0" rtlCol="0" anchor="t"/>
          <a:lstStyle/>
          <a:p>
            <a:pPr indent="0" marL="0">
              <a:buNone/>
            </a:pPr>
            <a:r>
              <a:rPr lang="en-US" sz="1400" dirty="0">
                <a:solidFill>
                  <a:schemeClr val="tx1"/>
                </a:solidFill>
              </a:rPr>
              <a:t>What the reader should do next</a:t>
            </a:r>
            <a:endParaRPr lang="en-US" sz="1400" dirty="0"/>
          </a:p>
        </p:txBody>
      </p:sp>
      <p:sp>
        <p:nvSpPr>
          <p:cNvPr id="23" name="Example"/>
          <p:cNvSpPr txBox="1"/>
          <p:nvPr/>
        </p:nvSpPr>
        <p:spPr>
          <a:xfrm>
            <a:off x="457200" y="3886200"/>
            <a:ext cx="8229600" cy="457200"/>
          </a:xfrm>
          <a:prstGeom prst="rect">
            <a:avLst/>
          </a:prstGeom>
          <a:noFill/>
          <a:ln/>
        </p:spPr>
        <p:txBody>
          <a:bodyPr wrap="square" lIns="0" tIns="0" rIns="0" bIns="0" rtlCol="0" anchor="t"/>
          <a:lstStyle/>
          <a:p>
            <a:pPr indent="0" marL="0">
              <a:buNone/>
            </a:pPr>
            <a:r>
              <a:rPr lang="en-US" sz="1400" b="1" dirty="0">
                <a:solidFill>
                  <a:schemeClr val="accent1"/>
                </a:solidFill>
              </a:rPr>
              <a:t>Example evidence: </a:t>
            </a:r>
            <a:pPr indent="0" marL="0">
              <a:buNone/>
            </a:pPr>
            <a:r>
              <a:rPr lang="en-US" sz="1400" dirty="0">
                <a:solidFill>
                  <a:schemeClr val="tx1"/>
                </a:solidFill>
              </a:rPr>
              <a:t>Cyrillic letters hidden in “Wellsfargo”, and a Reply-To on a .eu domain the bank doesn't use.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rPr>
              <a:t>Three agents, one capped follow-up round</a:t>
            </a:r>
            <a:endParaRPr lang="en-US" sz="3000" dirty="0"/>
          </a:p>
        </p:txBody>
      </p:sp>
      <p:sp>
        <p:nvSpPr>
          <p:cNvPr id="3" name="Email box"/>
          <p:cNvSpPr/>
          <p:nvPr/>
        </p:nvSpPr>
        <p:spPr>
          <a:xfrm>
            <a:off x="457200" y="1234440"/>
            <a:ext cx="1143000" cy="2377440"/>
          </a:xfrm>
          <a:prstGeom prst="roundRect">
            <a:avLst>
              <a:gd name="adj" fmla="val 6400"/>
            </a:avLst>
          </a:prstGeom>
          <a:solidFill>
            <a:schemeClr val="accent4"/>
          </a:solidFill>
          <a:ln w="12700">
            <a:solidFill>
              <a:schemeClr val="accent4"/>
            </a:solidFill>
            <a:prstDash val="solid"/>
          </a:ln>
          <a:effectLst>
            <a:outerShdw sx="100000" sy="100000" kx="0" ky="0" algn="bl" rotWithShape="0" blurRad="76200" dist="25400" dir="5400000">
              <a:srgbClr val="000000">
                <a:alpha val="12000"/>
              </a:srgbClr>
            </a:outerShdw>
          </a:effectLst>
        </p:spPr>
      </p:sp>
      <p:sp>
        <p:nvSpPr>
          <p:cNvPr id="4" name="Email label"/>
          <p:cNvSpPr txBox="1"/>
          <p:nvPr/>
        </p:nvSpPr>
        <p:spPr>
          <a:xfrm>
            <a:off x="502920" y="1234440"/>
            <a:ext cx="1051560" cy="2377440"/>
          </a:xfrm>
          <a:prstGeom prst="rect">
            <a:avLst/>
          </a:prstGeom>
          <a:noFill/>
          <a:ln/>
        </p:spPr>
        <p:txBody>
          <a:bodyPr wrap="square" lIns="0" tIns="0" rIns="0" bIns="0" rtlCol="0" anchor="ctr"/>
          <a:lstStyle/>
          <a:p>
            <a:pPr algn="ctr" indent="0" marL="0">
              <a:buNone/>
            </a:pPr>
            <a:r>
              <a:rPr lang="en-US" sz="1400" b="1" dirty="0">
                <a:solidFill>
                  <a:schemeClr val="tx2"/>
                </a:solidFill>
              </a:rPr>
              <a:t>Raw email</a:t>
            </a:r>
            <a:endParaRPr lang="en-US" sz="1400" dirty="0"/>
          </a:p>
          <a:p>
            <a:pPr algn="ctr" indent="0" marL="0">
              <a:buNone/>
            </a:pPr>
            <a:r>
              <a:rPr lang="en-US" sz="1400" b="1" dirty="0">
                <a:solidFill>
                  <a:schemeClr val="tx2"/>
                </a:solidFill>
              </a:rPr>
              <a:t>(headers + body)</a:t>
            </a:r>
            <a:endParaRPr lang="en-US" sz="1400" dirty="0"/>
          </a:p>
        </p:txBody>
      </p:sp>
      <p:sp>
        <p:nvSpPr>
          <p:cNvPr id="5" name="Technical box"/>
          <p:cNvSpPr/>
          <p:nvPr/>
        </p:nvSpPr>
        <p:spPr>
          <a:xfrm>
            <a:off x="1965960" y="1234440"/>
            <a:ext cx="210312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chnical text"/>
          <p:cNvSpPr txBox="1"/>
          <p:nvPr/>
        </p:nvSpPr>
        <p:spPr>
          <a:xfrm>
            <a:off x="2103120" y="1325880"/>
            <a:ext cx="1828800" cy="914400"/>
          </a:xfrm>
          <a:prstGeom prst="rect">
            <a:avLst/>
          </a:prstGeom>
          <a:noFill/>
          <a:ln/>
        </p:spPr>
        <p:txBody>
          <a:bodyPr wrap="square" lIns="0" tIns="0" rIns="0" bIns="0" rtlCol="0" anchor="t"/>
          <a:lstStyle/>
          <a:p>
            <a:pPr indent="0" marL="0">
              <a:buNone/>
            </a:pPr>
            <a:r>
              <a:rPr lang="en-US" sz="1400" b="1" dirty="0">
                <a:solidFill>
                  <a:schemeClr val="accent1"/>
                </a:solidFill>
              </a:rPr>
              <a:t>Technical Analyst</a:t>
            </a:r>
            <a:endParaRPr lang="en-US" sz="1400" dirty="0"/>
          </a:p>
          <a:p>
            <a:pPr indent="0" marL="0">
              <a:buNone/>
            </a:pPr>
            <a:r>
              <a:rPr lang="en-US" sz="1200" dirty="0">
                <a:solidFill>
                  <a:schemeClr val="tx1"/>
                </a:solidFill>
              </a:rPr>
              <a:t>13 fixed Python checks on headers and links</a:t>
            </a:r>
            <a:endParaRPr lang="en-US" sz="1400" dirty="0"/>
          </a:p>
          <a:p>
            <a:pPr indent="0" marL="0">
              <a:buNone/>
            </a:pPr>
            <a:r>
              <a:rPr lang="en-US" sz="1200" b="1" dirty="0">
                <a:solidFill>
                  <a:schemeClr val="tx1"/>
                </a:solidFill>
              </a:rPr>
              <a:t>0 requests</a:t>
            </a:r>
            <a:endParaRPr lang="en-US" sz="1400" dirty="0"/>
          </a:p>
        </p:txBody>
      </p:sp>
      <p:sp>
        <p:nvSpPr>
          <p:cNvPr id="7" name="Content box"/>
          <p:cNvSpPr/>
          <p:nvPr/>
        </p:nvSpPr>
        <p:spPr>
          <a:xfrm>
            <a:off x="1965960" y="2514600"/>
            <a:ext cx="210312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Content text"/>
          <p:cNvSpPr txBox="1"/>
          <p:nvPr/>
        </p:nvSpPr>
        <p:spPr>
          <a:xfrm>
            <a:off x="2103120" y="2606040"/>
            <a:ext cx="1828800" cy="914400"/>
          </a:xfrm>
          <a:prstGeom prst="rect">
            <a:avLst/>
          </a:prstGeom>
          <a:noFill/>
          <a:ln/>
        </p:spPr>
        <p:txBody>
          <a:bodyPr wrap="square" lIns="0" tIns="0" rIns="0" bIns="0" rtlCol="0" anchor="t"/>
          <a:lstStyle/>
          <a:p>
            <a:pPr indent="0" marL="0">
              <a:buNone/>
            </a:pPr>
            <a:r>
              <a:rPr lang="en-US" sz="1400" b="1" dirty="0">
                <a:solidFill>
                  <a:schemeClr val="accent1"/>
                </a:solidFill>
              </a:rPr>
              <a:t>Content Analyst</a:t>
            </a:r>
            <a:endParaRPr lang="en-US" sz="1400" dirty="0"/>
          </a:p>
          <a:p>
            <a:pPr indent="0" marL="0">
              <a:buNone/>
            </a:pPr>
            <a:r>
              <a:rPr lang="en-US" sz="1200" dirty="0">
                <a:solidFill>
                  <a:schemeClr val="tx1"/>
                </a:solidFill>
              </a:rPr>
              <a:t>LLM reads the text for intent and tactics</a:t>
            </a:r>
            <a:endParaRPr lang="en-US" sz="1400" dirty="0"/>
          </a:p>
          <a:p>
            <a:pPr indent="0" marL="0">
              <a:buNone/>
            </a:pPr>
            <a:r>
              <a:rPr lang="en-US" sz="1200" b="1" dirty="0">
                <a:solidFill>
                  <a:schemeClr val="tx1"/>
                </a:solidFill>
              </a:rPr>
              <a:t>1 request</a:t>
            </a:r>
            <a:endParaRPr lang="en-US" sz="1400" dirty="0"/>
          </a:p>
        </p:txBody>
      </p:sp>
      <p:sp>
        <p:nvSpPr>
          <p:cNvPr id="9" name="Check box"/>
          <p:cNvSpPr/>
          <p:nvPr/>
        </p:nvSpPr>
        <p:spPr>
          <a:xfrm>
            <a:off x="4434840" y="1234440"/>
            <a:ext cx="1783080" cy="2377440"/>
          </a:xfrm>
          <a:prstGeom prst="roundRect">
            <a:avLst>
              <a:gd name="adj" fmla="val 410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Check text"/>
          <p:cNvSpPr txBox="1"/>
          <p:nvPr/>
        </p:nvSpPr>
        <p:spPr>
          <a:xfrm>
            <a:off x="4572000" y="1371600"/>
            <a:ext cx="1508760" cy="2103120"/>
          </a:xfrm>
          <a:prstGeom prst="rect">
            <a:avLst/>
          </a:prstGeom>
          <a:noFill/>
          <a:ln/>
        </p:spPr>
        <p:txBody>
          <a:bodyPr wrap="square" lIns="0" tIns="0" rIns="0" bIns="0" rtlCol="0" anchor="ctr"/>
          <a:lstStyle/>
          <a:p>
            <a:pPr indent="0" marL="0">
              <a:buNone/>
            </a:pPr>
            <a:r>
              <a:rPr lang="en-US" sz="1400" b="1" dirty="0">
                <a:solidFill>
                  <a:schemeClr val="accent1"/>
                </a:solidFill>
              </a:rPr>
              <a:t>Python checks for disagreement</a:t>
            </a:r>
            <a:endParaRPr lang="en-US" sz="1400" dirty="0"/>
          </a:p>
          <a:p>
            <a:pPr indent="0" marL="0">
              <a:buNone/>
            </a:pPr>
            <a:r>
              <a:rPr lang="en-US" sz="1200" dirty="0">
                <a:solidFill>
                  <a:schemeClr val="tx1"/>
                </a:solidFill>
              </a:rPr>
              <a:t>Scores 40+ apart, or one 70+ and the other under 40</a:t>
            </a:r>
            <a:endParaRPr lang="en-US" sz="1400" dirty="0"/>
          </a:p>
        </p:txBody>
      </p:sp>
      <p:sp>
        <p:nvSpPr>
          <p:cNvPr id="11" name="Verdict box"/>
          <p:cNvSpPr/>
          <p:nvPr/>
        </p:nvSpPr>
        <p:spPr>
          <a:xfrm>
            <a:off x="6583680" y="1234440"/>
            <a:ext cx="2103120" cy="2377440"/>
          </a:xfrm>
          <a:prstGeom prst="roundRect">
            <a:avLst>
              <a:gd name="adj" fmla="val 3478"/>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2" name="Verdict text"/>
          <p:cNvSpPr txBox="1"/>
          <p:nvPr/>
        </p:nvSpPr>
        <p:spPr>
          <a:xfrm>
            <a:off x="6720840" y="1371600"/>
            <a:ext cx="1828800" cy="2103120"/>
          </a:xfrm>
          <a:prstGeom prst="rect">
            <a:avLst/>
          </a:prstGeom>
          <a:noFill/>
          <a:ln/>
        </p:spPr>
        <p:txBody>
          <a:bodyPr wrap="square" lIns="0" tIns="0" rIns="0" bIns="0" rtlCol="0" anchor="ctr"/>
          <a:lstStyle/>
          <a:p>
            <a:pPr indent="0" marL="0">
              <a:buNone/>
            </a:pPr>
            <a:r>
              <a:rPr lang="en-US" sz="1400" b="1" dirty="0">
                <a:solidFill>
                  <a:schemeClr val="bg1"/>
                </a:solidFill>
              </a:rPr>
              <a:t>Verdict agent</a:t>
            </a:r>
            <a:endParaRPr lang="en-US" sz="1400" dirty="0"/>
          </a:p>
          <a:p>
            <a:pPr indent="0" marL="0">
              <a:buNone/>
            </a:pPr>
            <a:r>
              <a:rPr lang="en-US" sz="1200" dirty="0">
                <a:solidFill>
                  <a:schemeClr val="bg1"/>
                </a:solidFill>
              </a:rPr>
              <a:t>Merges both reports into a score, reasons and an action</a:t>
            </a:r>
            <a:endParaRPr lang="en-US" sz="1400" dirty="0"/>
          </a:p>
          <a:p>
            <a:pPr indent="0" marL="0">
              <a:buNone/>
            </a:pPr>
            <a:r>
              <a:rPr lang="en-US" sz="1200" b="1" dirty="0">
                <a:solidFill>
                  <a:schemeClr val="bg1"/>
                </a:solidFill>
              </a:rPr>
              <a:t>1 request</a:t>
            </a:r>
            <a:endParaRPr lang="en-US" sz="1400" dirty="0"/>
          </a:p>
        </p:txBody>
      </p:sp>
      <p:sp>
        <p:nvSpPr>
          <p:cNvPr id="13" name="Arrow email-technical"/>
          <p:cNvSpPr/>
          <p:nvPr/>
        </p:nvSpPr>
        <p:spPr>
          <a:xfrm>
            <a:off x="1600200" y="1783080"/>
            <a:ext cx="365760" cy="0"/>
          </a:xfrm>
          <a:prstGeom prst="line">
            <a:avLst/>
          </a:prstGeom>
          <a:noFill/>
          <a:ln w="19050">
            <a:solidFill>
              <a:srgbClr val="6B6B6B"/>
            </a:solidFill>
            <a:prstDash val="solid"/>
            <a:tailEnd type="triangle"/>
          </a:ln>
        </p:spPr>
      </p:sp>
      <p:sp>
        <p:nvSpPr>
          <p:cNvPr id="14" name="Arrow email-content"/>
          <p:cNvSpPr/>
          <p:nvPr/>
        </p:nvSpPr>
        <p:spPr>
          <a:xfrm>
            <a:off x="1600200" y="3063240"/>
            <a:ext cx="365760" cy="0"/>
          </a:xfrm>
          <a:prstGeom prst="line">
            <a:avLst/>
          </a:prstGeom>
          <a:noFill/>
          <a:ln w="19050">
            <a:solidFill>
              <a:srgbClr val="6B6B6B"/>
            </a:solidFill>
            <a:prstDash val="solid"/>
            <a:tailEnd type="triangle"/>
          </a:ln>
        </p:spPr>
      </p:sp>
      <p:sp>
        <p:nvSpPr>
          <p:cNvPr id="15" name="Arrow technical-check"/>
          <p:cNvSpPr/>
          <p:nvPr/>
        </p:nvSpPr>
        <p:spPr>
          <a:xfrm>
            <a:off x="4069080" y="1783080"/>
            <a:ext cx="365760" cy="0"/>
          </a:xfrm>
          <a:prstGeom prst="line">
            <a:avLst/>
          </a:prstGeom>
          <a:noFill/>
          <a:ln w="19050">
            <a:solidFill>
              <a:srgbClr val="6B6B6B"/>
            </a:solidFill>
            <a:prstDash val="solid"/>
            <a:tailEnd type="triangle"/>
          </a:ln>
        </p:spPr>
      </p:sp>
      <p:sp>
        <p:nvSpPr>
          <p:cNvPr id="16" name="Arrow content-check"/>
          <p:cNvSpPr/>
          <p:nvPr/>
        </p:nvSpPr>
        <p:spPr>
          <a:xfrm>
            <a:off x="4069080" y="3063240"/>
            <a:ext cx="365760" cy="0"/>
          </a:xfrm>
          <a:prstGeom prst="line">
            <a:avLst/>
          </a:prstGeom>
          <a:noFill/>
          <a:ln w="19050">
            <a:solidFill>
              <a:srgbClr val="6B6B6B"/>
            </a:solidFill>
            <a:prstDash val="solid"/>
            <a:tailEnd type="triangle"/>
          </a:ln>
        </p:spPr>
      </p:sp>
      <p:sp>
        <p:nvSpPr>
          <p:cNvPr id="17" name="Arrow check-verdict"/>
          <p:cNvSpPr/>
          <p:nvPr/>
        </p:nvSpPr>
        <p:spPr>
          <a:xfrm>
            <a:off x="6217920" y="2423160"/>
            <a:ext cx="365760" cy="0"/>
          </a:xfrm>
          <a:prstGeom prst="line">
            <a:avLst/>
          </a:prstGeom>
          <a:noFill/>
          <a:ln w="19050">
            <a:solidFill>
              <a:srgbClr val="6B6B6B"/>
            </a:solidFill>
            <a:prstDash val="solid"/>
            <a:tailEnd type="triangle"/>
          </a:ln>
        </p:spPr>
      </p:sp>
      <p:sp>
        <p:nvSpPr>
          <p:cNvPr id="18" name="Round box"/>
          <p:cNvSpPr/>
          <p:nvPr/>
        </p:nvSpPr>
        <p:spPr>
          <a:xfrm>
            <a:off x="4434840" y="3840480"/>
            <a:ext cx="4251960" cy="685800"/>
          </a:xfrm>
          <a:prstGeom prst="roundRect">
            <a:avLst>
              <a:gd name="adj" fmla="val 10667"/>
            </a:avLst>
          </a:prstGeom>
          <a:solidFill>
            <a:schemeClr val="bg1"/>
          </a:solidFill>
          <a:ln w="15875">
            <a:solidFill>
              <a:srgbClr val="A26769"/>
            </a:solidFill>
            <a:prstDash val="dash"/>
          </a:ln>
        </p:spPr>
      </p:sp>
      <p:sp>
        <p:nvSpPr>
          <p:cNvPr id="19" name="Round text"/>
          <p:cNvSpPr txBox="1"/>
          <p:nvPr/>
        </p:nvSpPr>
        <p:spPr>
          <a:xfrm>
            <a:off x="4572000" y="3840480"/>
            <a:ext cx="4023360" cy="685800"/>
          </a:xfrm>
          <a:prstGeom prst="rect">
            <a:avLst/>
          </a:prstGeom>
          <a:noFill/>
          <a:ln/>
        </p:spPr>
        <p:txBody>
          <a:bodyPr wrap="square" lIns="0" tIns="0" rIns="0" bIns="0" rtlCol="0" anchor="ctr"/>
          <a:lstStyle/>
          <a:p>
            <a:pPr indent="0" marL="0">
              <a:buNone/>
            </a:pPr>
            <a:r>
              <a:rPr lang="en-US" sz="1200" b="1" dirty="0">
                <a:solidFill>
                  <a:schemeClr val="accent1"/>
                </a:solidFill>
              </a:rPr>
              <a:t>If they disagree: </a:t>
            </a:r>
            <a:pPr indent="0" marL="0">
              <a:buNone/>
            </a:pPr>
            <a:r>
              <a:rPr lang="en-US" sz="1200" dirty="0">
                <a:solidFill>
                  <a:schemeClr val="tx1"/>
                </a:solidFill>
              </a:rPr>
              <a:t>one question to one analyst, then a final verdict. +2 requests, never a second round.</a:t>
            </a:r>
            <a:endParaRPr lang="en-US" sz="1200" dirty="0"/>
          </a:p>
        </p:txBody>
      </p:sp>
      <p:sp>
        <p:nvSpPr>
          <p:cNvPr id="20" name="Cap note"/>
          <p:cNvSpPr txBox="1"/>
          <p:nvPr/>
        </p:nvSpPr>
        <p:spPr>
          <a:xfrm>
            <a:off x="457200" y="3840480"/>
            <a:ext cx="3657600" cy="685800"/>
          </a:xfrm>
          <a:prstGeom prst="rect">
            <a:avLst/>
          </a:prstGeom>
          <a:noFill/>
          <a:ln/>
        </p:spPr>
        <p:txBody>
          <a:bodyPr wrap="square" lIns="0" tIns="0" rIns="0" bIns="0" rtlCol="0" anchor="ctr"/>
          <a:lstStyle/>
          <a:p>
            <a:pPr indent="0" marL="0">
              <a:buNone/>
            </a:pPr>
            <a:r>
              <a:rPr lang="en-US" sz="1400" b="1" dirty="0">
                <a:solidFill>
                  <a:schemeClr val="tx2"/>
                </a:solidFill>
              </a:rPr>
              <a:t>At most 4 requests per email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rPr>
              <a:t>Data: modern phishing, 2002 legitimate mail</a:t>
            </a:r>
            <a:endParaRPr lang="en-US" sz="3000" dirty="0"/>
          </a:p>
        </p:txBody>
      </p:sp>
      <p:sp>
        <p:nvSpPr>
          <p:cNvPr id="3" name="Phishing card"/>
          <p:cNvSpPr/>
          <p:nvPr/>
        </p:nvSpPr>
        <p:spPr>
          <a:xfrm>
            <a:off x="457200" y="1234440"/>
            <a:ext cx="393192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Phishing stat"/>
          <p:cNvSpPr txBox="1"/>
          <p:nvPr/>
        </p:nvSpPr>
        <p:spPr>
          <a:xfrm>
            <a:off x="685800" y="1325880"/>
            <a:ext cx="1737360" cy="9601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1,302</a:t>
            </a:r>
            <a:endParaRPr lang="en-US" sz="4000" dirty="0"/>
          </a:p>
        </p:txBody>
      </p:sp>
      <p:sp>
        <p:nvSpPr>
          <p:cNvPr id="5" name="Phishing desc"/>
          <p:cNvSpPr txBox="1"/>
          <p:nvPr/>
        </p:nvSpPr>
        <p:spPr>
          <a:xfrm>
            <a:off x="2423160" y="1325880"/>
            <a:ext cx="1874520" cy="960120"/>
          </a:xfrm>
          <a:prstGeom prst="rect">
            <a:avLst/>
          </a:prstGeom>
          <a:noFill/>
          <a:ln/>
        </p:spPr>
        <p:txBody>
          <a:bodyPr wrap="square" lIns="0" tIns="0" rIns="0" bIns="0" rtlCol="0" anchor="ctr"/>
          <a:lstStyle/>
          <a:p>
            <a:pPr indent="0" marL="0">
              <a:buNone/>
            </a:pPr>
            <a:r>
              <a:rPr lang="en-US" sz="1400" b="1" dirty="0">
                <a:solidFill>
                  <a:schemeClr val="tx1"/>
                </a:solidFill>
              </a:rPr>
              <a:t>phishing</a:t>
            </a:r>
            <a:endParaRPr lang="en-US" sz="1400" dirty="0"/>
          </a:p>
          <a:p>
            <a:pPr indent="0" marL="0">
              <a:buNone/>
            </a:pPr>
            <a:r>
              <a:rPr lang="en-US" sz="1400" dirty="0">
                <a:solidFill>
                  <a:schemeClr val="tx1"/>
                </a:solidFill>
              </a:rPr>
              <a:t>Nazario corpus, 2023–2025, CC-BY-4.0</a:t>
            </a:r>
            <a:endParaRPr lang="en-US" sz="1400" dirty="0"/>
          </a:p>
        </p:txBody>
      </p:sp>
      <p:sp>
        <p:nvSpPr>
          <p:cNvPr id="6" name="Legit card"/>
          <p:cNvSpPr/>
          <p:nvPr/>
        </p:nvSpPr>
        <p:spPr>
          <a:xfrm>
            <a:off x="457200" y="2560320"/>
            <a:ext cx="393192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Legit stat"/>
          <p:cNvSpPr txBox="1"/>
          <p:nvPr/>
        </p:nvSpPr>
        <p:spPr>
          <a:xfrm>
            <a:off x="685800" y="2651760"/>
            <a:ext cx="1737360" cy="96012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4,150</a:t>
            </a:r>
            <a:endParaRPr lang="en-US" sz="4000" dirty="0"/>
          </a:p>
        </p:txBody>
      </p:sp>
      <p:sp>
        <p:nvSpPr>
          <p:cNvPr id="8" name="Legit desc"/>
          <p:cNvSpPr txBox="1"/>
          <p:nvPr/>
        </p:nvSpPr>
        <p:spPr>
          <a:xfrm>
            <a:off x="2423160" y="2651760"/>
            <a:ext cx="1874520" cy="960120"/>
          </a:xfrm>
          <a:prstGeom prst="rect">
            <a:avLst/>
          </a:prstGeom>
          <a:noFill/>
          <a:ln/>
        </p:spPr>
        <p:txBody>
          <a:bodyPr wrap="square" lIns="0" tIns="0" rIns="0" bIns="0" rtlCol="0" anchor="ctr"/>
          <a:lstStyle/>
          <a:p>
            <a:pPr indent="0" marL="0">
              <a:buNone/>
            </a:pPr>
            <a:r>
              <a:rPr lang="en-US" sz="1400" b="1" dirty="0">
                <a:solidFill>
                  <a:schemeClr val="tx1"/>
                </a:solidFill>
              </a:rPr>
              <a:t>legitimate</a:t>
            </a:r>
            <a:endParaRPr lang="en-US" sz="1400" dirty="0"/>
          </a:p>
          <a:p>
            <a:pPr indent="0" marL="0">
              <a:buNone/>
            </a:pPr>
            <a:r>
              <a:rPr lang="en-US" sz="1400" dirty="0">
                <a:solidFill>
                  <a:schemeClr val="tx1"/>
                </a:solidFill>
              </a:rPr>
              <a:t>SpamAssassin corpus, about 2002</a:t>
            </a:r>
            <a:endParaRPr lang="en-US" sz="1400" dirty="0"/>
          </a:p>
        </p:txBody>
      </p:sp>
      <p:sp>
        <p:nvSpPr>
          <p:cNvPr id="9" name="Split"/>
          <p:cNvSpPr txBox="1"/>
          <p:nvPr/>
        </p:nvSpPr>
        <p:spPr>
          <a:xfrm>
            <a:off x="457200" y="3886200"/>
            <a:ext cx="3931920" cy="685800"/>
          </a:xfrm>
          <a:prstGeom prst="rect">
            <a:avLst/>
          </a:prstGeom>
          <a:noFill/>
          <a:ln/>
        </p:spPr>
        <p:txBody>
          <a:bodyPr wrap="square" lIns="0" tIns="0" rIns="0" bIns="0" rtlCol="0" anchor="t"/>
          <a:lstStyle/>
          <a:p>
            <a:pPr indent="0" marL="0">
              <a:buNone/>
            </a:pPr>
            <a:r>
              <a:rPr lang="en-US" sz="1200" dirty="0">
                <a:solidFill>
                  <a:schemeClr val="accent5"/>
                </a:solidFill>
              </a:rPr>
              <a:t>5,185 after removing duplicates, then an 80/20 split. All four systems are tested on the same 100 held-out emails (50 of each).</a:t>
            </a:r>
            <a:endParaRPr lang="en-US" sz="1200" dirty="0"/>
          </a:p>
        </p:txBody>
      </p:sp>
      <p:sp>
        <p:nvSpPr>
          <p:cNvPr id="10" name="Gap heading"/>
          <p:cNvSpPr txBox="1"/>
          <p:nvPr/>
        </p:nvSpPr>
        <p:spPr>
          <a:xfrm>
            <a:off x="4846320" y="1234440"/>
            <a:ext cx="384048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The era gap</a:t>
            </a:r>
            <a:endParaRPr lang="en-US" sz="2000" dirty="0"/>
          </a:p>
        </p:txBody>
      </p:sp>
      <p:sp>
        <p:nvSpPr>
          <p:cNvPr id="11" name="Gap body"/>
          <p:cNvSpPr txBox="1"/>
          <p:nvPr/>
        </p:nvSpPr>
        <p:spPr>
          <a:xfrm>
            <a:off x="4846320" y="1691640"/>
            <a:ext cx="3840480" cy="777240"/>
          </a:xfrm>
          <a:prstGeom prst="rect">
            <a:avLst/>
          </a:prstGeom>
          <a:noFill/>
          <a:ln/>
        </p:spPr>
        <p:txBody>
          <a:bodyPr wrap="square" lIns="0" tIns="0" rIns="0" bIns="0" rtlCol="0" anchor="t"/>
          <a:lstStyle/>
          <a:p>
            <a:pPr indent="0" marL="0">
              <a:buNone/>
            </a:pPr>
            <a:r>
              <a:rPr lang="en-US" sz="1400" dirty="0">
                <a:solidFill>
                  <a:schemeClr val="tx1"/>
                </a:solidFill>
              </a:rPr>
              <a:t>A model can separate the classes by era (date formats, header styles) instead of by phishing signals. To reduce that:</a:t>
            </a:r>
            <a:endParaRPr lang="en-US" sz="1400" dirty="0"/>
          </a:p>
        </p:txBody>
      </p:sp>
      <p:sp>
        <p:nvSpPr>
          <p:cNvPr id="12" name="Gap list"/>
          <p:cNvSpPr txBox="1"/>
          <p:nvPr/>
        </p:nvSpPr>
        <p:spPr>
          <a:xfrm>
            <a:off x="4846320" y="2514600"/>
            <a:ext cx="38404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baseline sees only subject and body, with digits and links removed</a:t>
            </a:r>
            <a:endParaRPr lang="en-US" sz="1400" dirty="0"/>
          </a:p>
          <a:p>
            <a:pPr marL="342900" indent="-342900">
              <a:spcAft>
                <a:spcPts val="600"/>
              </a:spcAft>
              <a:buSzPct val="100000"/>
              <a:buChar char="•"/>
            </a:pPr>
            <a:r>
              <a:rPr lang="en-US" sz="1400" dirty="0">
                <a:solidFill>
                  <a:schemeClr val="tx1"/>
                </a:solidFill>
              </a:rPr>
              <a:t>The Content Analyst sees no headers. LLM-only gets no date, routing or auth headers</a:t>
            </a:r>
            <a:endParaRPr lang="en-US" sz="1400" dirty="0"/>
          </a:p>
          <a:p>
            <a:pPr marL="342900" indent="-342900">
              <a:spcAft>
                <a:spcPts val="600"/>
              </a:spcAft>
              <a:buSzPct val="100000"/>
              <a:buChar char="•"/>
            </a:pPr>
            <a:r>
              <a:rPr lang="en-US" sz="1400" dirty="0">
                <a:solidFill>
                  <a:schemeClr val="tx1"/>
                </a:solidFill>
              </a:rPr>
              <a:t>Authentication only counts when a check explicitly fails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rPr>
              <a:t>Results on the 100-email test subset</a:t>
            </a:r>
            <a:endParaRPr lang="en-US" sz="3000" dirty="0"/>
          </a:p>
        </p:txBody>
      </p:sp>
      <p:graphicFrame>
        <p:nvGraphicFramePr>
          <p:cNvPr id="3" name="F1 chart" descr=""/>
          <p:cNvGraphicFramePr/>
          <p:nvPr/>
        </p:nvGraphicFramePr>
        <p:xfrm>
          <a:off x="457200" y="1097280"/>
          <a:ext cx="493776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Results table"/>
          <p:cNvGraphicFramePr>
            <a:graphicFrameLocks noGrp="1"/>
          </p:cNvGraphicFramePr>
          <p:nvPr>
            <p:extLst>
              <p:ext uri="{D42A27DB-BD31-4B8C-83A1-F6EECF244321}">
                <p14:modId xmlns:p14="http://schemas.microsoft.com/office/powerpoint/2010/main" val="1579011935"/>
              </p:ext>
            </p:extLst>
          </p:nvPr>
        </p:nvGraphicFramePr>
        <p:xfrm>
          <a:off x="5669280" y="1234440"/>
          <a:ext cx="3017520" cy="914400"/>
        </p:xfrm>
        <a:graphic>
          <a:graphicData uri="http://schemas.openxmlformats.org/drawingml/2006/table">
            <a:tbl>
              <a:tblPr/>
              <a:tblGrid>
                <a:gridCol w="1463040"/>
                <a:gridCol w="731520"/>
                <a:gridCol w="822960"/>
              </a:tblGrid>
              <a:tr h="347472">
                <a:tc>
                  <a:txBody>
                    <a:bodyPr/>
                    <a:lstStyle/>
                    <a:p>
                      <a:pPr indent="0" marL="0">
                        <a:buNone/>
                      </a:pPr>
                      <a:r>
                        <a:rPr lang="en-US" sz="1300" b="1" dirty="0">
                          <a:solidFill>
                            <a:schemeClr val="bg1"/>
                          </a:solidFill>
                        </a:rPr>
                        <a:t>Configuration</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accent1"/>
                    </a:solidFill>
                  </a:tcPr>
                </a:tc>
                <a:tc>
                  <a:txBody>
                    <a:bodyPr/>
                    <a:lstStyle/>
                    <a:p>
                      <a:pPr algn="r" indent="0" marL="0">
                        <a:buNone/>
                      </a:pPr>
                      <a:r>
                        <a:rPr lang="en-US" sz="1300" b="1" dirty="0">
                          <a:solidFill>
                            <a:schemeClr val="bg1"/>
                          </a:solidFill>
                        </a:rPr>
                        <a:t>Recall</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accent1"/>
                    </a:solidFill>
                  </a:tcPr>
                </a:tc>
                <a:tc>
                  <a:txBody>
                    <a:bodyPr/>
                    <a:lstStyle/>
                    <a:p>
                      <a:pPr algn="r" indent="0" marL="0">
                        <a:buNone/>
                      </a:pPr>
                      <a:r>
                        <a:rPr lang="en-US" sz="1300" b="1" dirty="0">
                          <a:solidFill>
                            <a:schemeClr val="bg1"/>
                          </a:solidFill>
                        </a:rPr>
                        <a:t>Requests</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accent1"/>
                    </a:solidFill>
                  </a:tcPr>
                </a:tc>
              </a:tr>
              <a:tr h="347472">
                <a:tc>
                  <a:txBody>
                    <a:bodyPr/>
                    <a:lstStyle/>
                    <a:p>
                      <a:pPr algn="l" indent="0" marL="0">
                        <a:buNone/>
                      </a:pPr>
                      <a:r>
                        <a:rPr lang="en-US" sz="1300" dirty="0">
                          <a:solidFill>
                            <a:schemeClr val="tx1"/>
                          </a:solidFill>
                        </a:rPr>
                        <a:t>Tools only</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0.26</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0</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bg2"/>
                    </a:solidFill>
                  </a:tcPr>
                </a:tc>
              </a:tr>
              <a:tr h="347472">
                <a:tc>
                  <a:txBody>
                    <a:bodyPr/>
                    <a:lstStyle/>
                    <a:p>
                      <a:pPr algn="l" indent="0" marL="0">
                        <a:buNone/>
                      </a:pPr>
                      <a:r>
                        <a:rPr lang="en-US" sz="1300" dirty="0">
                          <a:solidFill>
                            <a:schemeClr val="tx1"/>
                          </a:solidFill>
                        </a:rPr>
                        <a:t>TF-IDF baseline</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1.00</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bg1"/>
                    </a:solidFill>
                  </a:tcPr>
                </a:tc>
              </a:tr>
              <a:tr h="347472">
                <a:tc>
                  <a:txBody>
                    <a:bodyPr/>
                    <a:lstStyle/>
                    <a:p>
                      <a:pPr algn="l" indent="0" marL="0">
                        <a:buNone/>
                      </a:pPr>
                      <a:r>
                        <a:rPr lang="en-US" sz="1300" dirty="0">
                          <a:solidFill>
                            <a:schemeClr val="tx1"/>
                          </a:solidFill>
                        </a:rPr>
                        <a:t>LLM only</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0.94</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100</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bg2"/>
                    </a:solidFill>
                  </a:tcPr>
                </a:tc>
              </a:tr>
              <a:tr h="347472">
                <a:tc>
                  <a:txBody>
                    <a:bodyPr/>
                    <a:lstStyle/>
                    <a:p>
                      <a:pPr algn="l" indent="0" marL="0">
                        <a:buNone/>
                      </a:pPr>
                      <a:r>
                        <a:rPr lang="en-US" sz="1300" dirty="0">
                          <a:solidFill>
                            <a:schemeClr val="tx1"/>
                          </a:solidFill>
                        </a:rPr>
                        <a:t>Full system</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0.92</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276</a:t>
                      </a:r>
                      <a:endParaRPr lang="en-US" sz="1300" dirty="0"/>
                    </a:p>
                  </a:txBody>
                  <a:tcPr marL="91440" marR="91440" marT="45720" marB="45720">
                    <a:lnL w="6350" cap="flat" cmpd="sng" algn="ctr">
                      <a:solidFill>
                        <a:srgbClr val="D9C5CD"/>
                      </a:solidFill>
                      <a:prstDash val="solid"/>
                      <a:round/>
                      <a:headEnd type="none" w="med" len="med"/>
                      <a:tailEnd type="none" w="med" len="med"/>
                    </a:lnL>
                    <a:lnR w="6350" cap="flat" cmpd="sng" algn="ctr">
                      <a:solidFill>
                        <a:srgbClr val="D9C5CD"/>
                      </a:solidFill>
                      <a:prstDash val="solid"/>
                      <a:round/>
                      <a:headEnd type="none" w="med" len="med"/>
                      <a:tailEnd type="none" w="med" len="med"/>
                    </a:lnR>
                    <a:lnT w="6350" cap="flat" cmpd="sng" algn="ctr">
                      <a:solidFill>
                        <a:srgbClr val="D9C5CD"/>
                      </a:solidFill>
                      <a:prstDash val="solid"/>
                      <a:round/>
                      <a:headEnd type="none" w="med" len="med"/>
                      <a:tailEnd type="none" w="med" len="med"/>
                    </a:lnT>
                    <a:lnB w="6350" cap="flat" cmpd="sng" algn="ctr">
                      <a:solidFill>
                        <a:srgbClr val="D9C5CD"/>
                      </a:solidFill>
                      <a:prstDash val="solid"/>
                      <a:round/>
                      <a:headEnd type="none" w="med" len="med"/>
                      <a:tailEnd type="none" w="med" len="med"/>
                    </a:lnB>
                    <a:solidFill>
                      <a:schemeClr val="bg1"/>
                    </a:solidFill>
                  </a:tcPr>
                </a:tc>
              </a:tr>
            </a:tbl>
          </a:graphicData>
        </a:graphic>
      </p:graphicFrame>
      <p:sp>
        <p:nvSpPr>
          <p:cNvPr id="5" name="Precision note"/>
          <p:cNvSpPr txBox="1"/>
          <p:nvPr/>
        </p:nvSpPr>
        <p:spPr>
          <a:xfrm>
            <a:off x="5669280" y="3154680"/>
            <a:ext cx="3017520" cy="731520"/>
          </a:xfrm>
          <a:prstGeom prst="rect">
            <a:avLst/>
          </a:prstGeom>
          <a:noFill/>
          <a:ln/>
        </p:spPr>
        <p:txBody>
          <a:bodyPr wrap="square" lIns="0" tIns="0" rIns="0" bIns="0" rtlCol="0" anchor="t"/>
          <a:lstStyle/>
          <a:p>
            <a:pPr indent="0" marL="0">
              <a:buNone/>
            </a:pPr>
            <a:r>
              <a:rPr lang="en-US" sz="1200" dirty="0">
                <a:solidFill>
                  <a:schemeClr val="accent5"/>
                </a:solidFill>
              </a:rPr>
              <a:t>Precision is 1.00 for every configuration except the baseline (0.98).</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rPr>
              <a:t>The baseline learned the era, not phishing</a:t>
            </a:r>
            <a:endParaRPr lang="en-US" sz="3000" dirty="0"/>
          </a:p>
        </p:txBody>
      </p:sp>
      <p:sp>
        <p:nvSpPr>
          <p:cNvPr id="3" name="Baseline stat card"/>
          <p:cNvSpPr/>
          <p:nvPr/>
        </p:nvSpPr>
        <p:spPr>
          <a:xfrm>
            <a:off x="457200" y="1234440"/>
            <a:ext cx="3840480" cy="3017520"/>
          </a:xfrm>
          <a:prstGeom prst="roundRect">
            <a:avLst>
              <a:gd name="adj" fmla="val 2424"/>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4" name="Baseline stat"/>
          <p:cNvSpPr txBox="1"/>
          <p:nvPr/>
        </p:nvSpPr>
        <p:spPr>
          <a:xfrm>
            <a:off x="731520" y="1417320"/>
            <a:ext cx="3291840" cy="118872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85%</a:t>
            </a:r>
            <a:endParaRPr lang="en-US" sz="6600" dirty="0"/>
          </a:p>
        </p:txBody>
      </p:sp>
      <p:sp>
        <p:nvSpPr>
          <p:cNvPr id="5" name="Baseline stat label"/>
          <p:cNvSpPr txBox="1"/>
          <p:nvPr/>
        </p:nvSpPr>
        <p:spPr>
          <a:xfrm>
            <a:off x="731520" y="2697480"/>
            <a:ext cx="3291840" cy="914400"/>
          </a:xfrm>
          <a:prstGeom prst="rect">
            <a:avLst/>
          </a:prstGeom>
          <a:noFill/>
          <a:ln/>
        </p:spPr>
        <p:txBody>
          <a:bodyPr wrap="square" lIns="0" tIns="0" rIns="0" bIns="0" rtlCol="0" anchor="t"/>
          <a:lstStyle/>
          <a:p>
            <a:pPr indent="0" marL="0">
              <a:buNone/>
            </a:pPr>
            <a:r>
              <a:rPr lang="en-US" sz="1600" dirty="0">
                <a:solidFill>
                  <a:schemeClr val="bg1"/>
                </a:solidFill>
              </a:rPr>
              <a:t>of 20 modern legitimate emails flagged by the TF-IDF baseline (11 phishing, 6 suspicious)</a:t>
            </a:r>
            <a:endParaRPr lang="en-US" sz="1600" dirty="0"/>
          </a:p>
        </p:txBody>
      </p:sp>
      <p:sp>
        <p:nvSpPr>
          <p:cNvPr id="6" name="Baseline features"/>
          <p:cNvSpPr txBox="1"/>
          <p:nvPr/>
        </p:nvSpPr>
        <p:spPr>
          <a:xfrm>
            <a:off x="731520" y="3657600"/>
            <a:ext cx="3291840" cy="411480"/>
          </a:xfrm>
          <a:prstGeom prst="rect">
            <a:avLst/>
          </a:prstGeom>
          <a:noFill/>
          <a:ln/>
        </p:spPr>
        <p:txBody>
          <a:bodyPr wrap="square" lIns="0" tIns="0" rIns="0" bIns="0" rtlCol="0" anchor="t"/>
          <a:lstStyle/>
          <a:p>
            <a:pPr indent="0" marL="0">
              <a:buNone/>
            </a:pPr>
            <a:r>
              <a:rPr lang="en-US" sz="1400" i="1" dirty="0">
                <a:solidFill>
                  <a:schemeClr val="accent4"/>
                </a:solidFill>
              </a:rPr>
              <a:t>Its “legitimate” words: wrote, linux, rpm</a:t>
            </a:r>
            <a:endParaRPr lang="en-US" sz="1400" dirty="0"/>
          </a:p>
        </p:txBody>
      </p:sp>
      <p:sp>
        <p:nvSpPr>
          <p:cNvPr id="7" name="FP row 1"/>
          <p:cNvSpPr/>
          <p:nvPr/>
        </p:nvSpPr>
        <p:spPr>
          <a:xfrm>
            <a:off x="4663440" y="1234440"/>
            <a:ext cx="4023360" cy="64008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FP row 1 name"/>
          <p:cNvSpPr txBox="1"/>
          <p:nvPr/>
        </p:nvSpPr>
        <p:spPr>
          <a:xfrm>
            <a:off x="4846320" y="1234440"/>
            <a:ext cx="2194560" cy="640080"/>
          </a:xfrm>
          <a:prstGeom prst="rect">
            <a:avLst/>
          </a:prstGeom>
          <a:noFill/>
          <a:ln/>
        </p:spPr>
        <p:txBody>
          <a:bodyPr wrap="square" lIns="0" tIns="0" rIns="0" bIns="0" rtlCol="0" anchor="ctr"/>
          <a:lstStyle/>
          <a:p>
            <a:pPr indent="0" marL="0">
              <a:buNone/>
            </a:pPr>
            <a:r>
              <a:rPr lang="en-US" sz="1600" dirty="0">
                <a:solidFill>
                  <a:schemeClr val="tx1"/>
                </a:solidFill>
              </a:rPr>
              <a:t>Tools only</a:t>
            </a:r>
            <a:endParaRPr lang="en-US" sz="1600" dirty="0"/>
          </a:p>
        </p:txBody>
      </p:sp>
      <p:sp>
        <p:nvSpPr>
          <p:cNvPr id="9" name="FP row 1 value"/>
          <p:cNvSpPr txBox="1"/>
          <p:nvPr/>
        </p:nvSpPr>
        <p:spPr>
          <a:xfrm>
            <a:off x="6949440" y="1234440"/>
            <a:ext cx="1554480" cy="640080"/>
          </a:xfrm>
          <a:prstGeom prst="rect">
            <a:avLst/>
          </a:prstGeom>
          <a:noFill/>
          <a:ln/>
        </p:spPr>
        <p:txBody>
          <a:bodyPr wrap="square" lIns="0" tIns="0" rIns="0" bIns="0" rtlCol="0" anchor="ctr"/>
          <a:lstStyle/>
          <a:p>
            <a:pPr algn="r" indent="0" marL="0">
              <a:buNone/>
            </a:pPr>
            <a:r>
              <a:rPr lang="en-US" sz="2000" b="1" dirty="0">
                <a:solidFill>
                  <a:schemeClr val="accent6"/>
                </a:solidFill>
              </a:rPr>
              <a:t>0 / 20</a:t>
            </a:r>
            <a:endParaRPr lang="en-US" sz="2000" dirty="0"/>
          </a:p>
        </p:txBody>
      </p:sp>
      <p:sp>
        <p:nvSpPr>
          <p:cNvPr id="10" name="FP row 2"/>
          <p:cNvSpPr/>
          <p:nvPr/>
        </p:nvSpPr>
        <p:spPr>
          <a:xfrm>
            <a:off x="4663440" y="2011680"/>
            <a:ext cx="4023360" cy="64008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FP row 2 name"/>
          <p:cNvSpPr txBox="1"/>
          <p:nvPr/>
        </p:nvSpPr>
        <p:spPr>
          <a:xfrm>
            <a:off x="4846320" y="2011680"/>
            <a:ext cx="2194560" cy="640080"/>
          </a:xfrm>
          <a:prstGeom prst="rect">
            <a:avLst/>
          </a:prstGeom>
          <a:noFill/>
          <a:ln/>
        </p:spPr>
        <p:txBody>
          <a:bodyPr wrap="square" lIns="0" tIns="0" rIns="0" bIns="0" rtlCol="0" anchor="ctr"/>
          <a:lstStyle/>
          <a:p>
            <a:pPr indent="0" marL="0">
              <a:buNone/>
            </a:pPr>
            <a:r>
              <a:rPr lang="en-US" sz="1600" dirty="0">
                <a:solidFill>
                  <a:schemeClr val="tx1"/>
                </a:solidFill>
              </a:rPr>
              <a:t>LLM only</a:t>
            </a:r>
            <a:endParaRPr lang="en-US" sz="1600" dirty="0"/>
          </a:p>
        </p:txBody>
      </p:sp>
      <p:sp>
        <p:nvSpPr>
          <p:cNvPr id="12" name="FP row 2 value"/>
          <p:cNvSpPr txBox="1"/>
          <p:nvPr/>
        </p:nvSpPr>
        <p:spPr>
          <a:xfrm>
            <a:off x="6949440" y="2011680"/>
            <a:ext cx="1554480" cy="640080"/>
          </a:xfrm>
          <a:prstGeom prst="rect">
            <a:avLst/>
          </a:prstGeom>
          <a:noFill/>
          <a:ln/>
        </p:spPr>
        <p:txBody>
          <a:bodyPr wrap="square" lIns="0" tIns="0" rIns="0" bIns="0" rtlCol="0" anchor="ctr"/>
          <a:lstStyle/>
          <a:p>
            <a:pPr algn="r" indent="0" marL="0">
              <a:buNone/>
            </a:pPr>
            <a:r>
              <a:rPr lang="en-US" sz="2000" b="1" dirty="0">
                <a:solidFill>
                  <a:schemeClr val="accent6"/>
                </a:solidFill>
              </a:rPr>
              <a:t>0 / 20</a:t>
            </a:r>
            <a:endParaRPr lang="en-US" sz="2000" dirty="0"/>
          </a:p>
        </p:txBody>
      </p:sp>
      <p:sp>
        <p:nvSpPr>
          <p:cNvPr id="13" name="FP row 3"/>
          <p:cNvSpPr/>
          <p:nvPr/>
        </p:nvSpPr>
        <p:spPr>
          <a:xfrm>
            <a:off x="4663440" y="2788920"/>
            <a:ext cx="4023360" cy="640080"/>
          </a:xfrm>
          <a:prstGeom prst="roundRect">
            <a:avLst>
              <a:gd name="adj" fmla="val 1142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FP row 3 name"/>
          <p:cNvSpPr txBox="1"/>
          <p:nvPr/>
        </p:nvSpPr>
        <p:spPr>
          <a:xfrm>
            <a:off x="4846320" y="2788920"/>
            <a:ext cx="2194560" cy="640080"/>
          </a:xfrm>
          <a:prstGeom prst="rect">
            <a:avLst/>
          </a:prstGeom>
          <a:noFill/>
          <a:ln/>
        </p:spPr>
        <p:txBody>
          <a:bodyPr wrap="square" lIns="0" tIns="0" rIns="0" bIns="0" rtlCol="0" anchor="ctr"/>
          <a:lstStyle/>
          <a:p>
            <a:pPr indent="0" marL="0">
              <a:buNone/>
            </a:pPr>
            <a:r>
              <a:rPr lang="en-US" sz="1600" dirty="0">
                <a:solidFill>
                  <a:schemeClr val="tx1"/>
                </a:solidFill>
              </a:rPr>
              <a:t>Full system</a:t>
            </a:r>
            <a:endParaRPr lang="en-US" sz="1600" dirty="0"/>
          </a:p>
        </p:txBody>
      </p:sp>
      <p:sp>
        <p:nvSpPr>
          <p:cNvPr id="15" name="FP row 3 value"/>
          <p:cNvSpPr txBox="1"/>
          <p:nvPr/>
        </p:nvSpPr>
        <p:spPr>
          <a:xfrm>
            <a:off x="6949440" y="2788920"/>
            <a:ext cx="1554480" cy="640080"/>
          </a:xfrm>
          <a:prstGeom prst="rect">
            <a:avLst/>
          </a:prstGeom>
          <a:noFill/>
          <a:ln/>
        </p:spPr>
        <p:txBody>
          <a:bodyPr wrap="square" lIns="0" tIns="0" rIns="0" bIns="0" rtlCol="0" anchor="ctr"/>
          <a:lstStyle/>
          <a:p>
            <a:pPr algn="r" indent="0" marL="0">
              <a:buNone/>
            </a:pPr>
            <a:r>
              <a:rPr lang="en-US" sz="2000" b="1" dirty="0">
                <a:solidFill>
                  <a:schemeClr val="accent6"/>
                </a:solidFill>
              </a:rPr>
              <a:t>0 / 20</a:t>
            </a:r>
            <a:endParaRPr lang="en-US" sz="2000" dirty="0"/>
          </a:p>
        </p:txBody>
      </p:sp>
      <p:sp>
        <p:nvSpPr>
          <p:cNvPr id="16" name="Robustness note"/>
          <p:cNvSpPr txBox="1"/>
          <p:nvPr/>
        </p:nvSpPr>
        <p:spPr>
          <a:xfrm>
            <a:off x="4663440" y="3611880"/>
            <a:ext cx="4023360" cy="685800"/>
          </a:xfrm>
          <a:prstGeom prst="rect">
            <a:avLst/>
          </a:prstGeom>
          <a:noFill/>
          <a:ln/>
        </p:spPr>
        <p:txBody>
          <a:bodyPr wrap="square" lIns="0" tIns="0" rIns="0" bIns="0" rtlCol="0" anchor="t"/>
          <a:lstStyle/>
          <a:p>
            <a:pPr indent="0" marL="0">
              <a:buNone/>
            </a:pPr>
            <a:r>
              <a:rPr lang="en-US" sz="1200" dirty="0">
                <a:solidFill>
                  <a:schemeClr val="accent5"/>
                </a:solidFill>
              </a:rPr>
              <a:t>The 20 emails are alerts, receipts, codes and invoices full of phishing vocabulary. Claude wrote them, not the Gemini model under test.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rPr>
              <a:t>More agents, more requests, no gain</a:t>
            </a:r>
            <a:endParaRPr lang="en-US" sz="3000" dirty="0"/>
          </a:p>
        </p:txBody>
      </p:sp>
      <p:sp>
        <p:nvSpPr>
          <p:cNvPr id="3" name="LLM only column"/>
          <p:cNvSpPr/>
          <p:nvPr/>
        </p:nvSpPr>
        <p:spPr>
          <a:xfrm>
            <a:off x="457200" y="1234440"/>
            <a:ext cx="2606040" cy="3017520"/>
          </a:xfrm>
          <a:prstGeom prst="roundRect">
            <a:avLst>
              <a:gd name="adj" fmla="val 280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LLM only heading"/>
          <p:cNvSpPr txBox="1"/>
          <p:nvPr/>
        </p:nvSpPr>
        <p:spPr>
          <a:xfrm>
            <a:off x="685800" y="1371600"/>
            <a:ext cx="219456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LLM only</a:t>
            </a:r>
            <a:endParaRPr lang="en-US" sz="2000" dirty="0"/>
          </a:p>
        </p:txBody>
      </p:sp>
      <p:sp>
        <p:nvSpPr>
          <p:cNvPr id="5" name="LLM only sub"/>
          <p:cNvSpPr txBox="1"/>
          <p:nvPr/>
        </p:nvSpPr>
        <p:spPr>
          <a:xfrm>
            <a:off x="685800" y="1783080"/>
            <a:ext cx="2194560" cy="320040"/>
          </a:xfrm>
          <a:prstGeom prst="rect">
            <a:avLst/>
          </a:prstGeom>
          <a:noFill/>
          <a:ln/>
        </p:spPr>
        <p:txBody>
          <a:bodyPr wrap="square" lIns="0" tIns="0" rIns="0" bIns="0" rtlCol="0" anchor="t"/>
          <a:lstStyle/>
          <a:p>
            <a:pPr indent="0" marL="0">
              <a:buNone/>
            </a:pPr>
            <a:r>
              <a:rPr lang="en-US" sz="1200" dirty="0">
                <a:solidFill>
                  <a:schemeClr val="accent5"/>
                </a:solidFill>
              </a:rPr>
              <a:t>One prompt, one request</a:t>
            </a:r>
            <a:endParaRPr lang="en-US" sz="1200" dirty="0"/>
          </a:p>
        </p:txBody>
      </p:sp>
      <p:sp>
        <p:nvSpPr>
          <p:cNvPr id="6" name="LLM only F1 label"/>
          <p:cNvSpPr txBox="1"/>
          <p:nvPr/>
        </p:nvSpPr>
        <p:spPr>
          <a:xfrm>
            <a:off x="685800" y="2240280"/>
            <a:ext cx="1325880" cy="411480"/>
          </a:xfrm>
          <a:prstGeom prst="rect">
            <a:avLst/>
          </a:prstGeom>
          <a:noFill/>
          <a:ln/>
        </p:spPr>
        <p:txBody>
          <a:bodyPr wrap="square" lIns="0" tIns="0" rIns="0" bIns="0" rtlCol="0" anchor="ctr"/>
          <a:lstStyle/>
          <a:p>
            <a:pPr indent="0" marL="0">
              <a:buNone/>
            </a:pPr>
            <a:r>
              <a:rPr lang="en-US" sz="1400" dirty="0">
                <a:solidFill>
                  <a:schemeClr val="tx1"/>
                </a:solidFill>
              </a:rPr>
              <a:t>F1</a:t>
            </a:r>
            <a:endParaRPr lang="en-US" sz="1400" dirty="0"/>
          </a:p>
        </p:txBody>
      </p:sp>
      <p:sp>
        <p:nvSpPr>
          <p:cNvPr id="7" name="LLM only F1 value"/>
          <p:cNvSpPr txBox="1"/>
          <p:nvPr/>
        </p:nvSpPr>
        <p:spPr>
          <a:xfrm>
            <a:off x="1920240" y="2240280"/>
            <a:ext cx="914400" cy="411480"/>
          </a:xfrm>
          <a:prstGeom prst="rect">
            <a:avLst/>
          </a:prstGeom>
          <a:noFill/>
          <a:ln/>
        </p:spPr>
        <p:txBody>
          <a:bodyPr wrap="square" lIns="0" tIns="0" rIns="0" bIns="0" rtlCol="0" anchor="ctr"/>
          <a:lstStyle/>
          <a:p>
            <a:pPr algn="r" indent="0" marL="0">
              <a:buNone/>
            </a:pPr>
            <a:r>
              <a:rPr lang="en-US" sz="1800" b="1" dirty="0">
                <a:solidFill>
                  <a:schemeClr val="tx1"/>
                </a:solidFill>
              </a:rPr>
              <a:t>0.969</a:t>
            </a:r>
            <a:endParaRPr lang="en-US" sz="1800" dirty="0"/>
          </a:p>
        </p:txBody>
      </p:sp>
      <p:sp>
        <p:nvSpPr>
          <p:cNvPr id="8" name="LLM only Recall label"/>
          <p:cNvSpPr txBox="1"/>
          <p:nvPr/>
        </p:nvSpPr>
        <p:spPr>
          <a:xfrm>
            <a:off x="685800" y="2715768"/>
            <a:ext cx="1325880" cy="411480"/>
          </a:xfrm>
          <a:prstGeom prst="rect">
            <a:avLst/>
          </a:prstGeom>
          <a:noFill/>
          <a:ln/>
        </p:spPr>
        <p:txBody>
          <a:bodyPr wrap="square" lIns="0" tIns="0" rIns="0" bIns="0" rtlCol="0" anchor="ctr"/>
          <a:lstStyle/>
          <a:p>
            <a:pPr indent="0" marL="0">
              <a:buNone/>
            </a:pPr>
            <a:r>
              <a:rPr lang="en-US" sz="1400" dirty="0">
                <a:solidFill>
                  <a:schemeClr val="tx1"/>
                </a:solidFill>
              </a:rPr>
              <a:t>Recall</a:t>
            </a:r>
            <a:endParaRPr lang="en-US" sz="1400" dirty="0"/>
          </a:p>
        </p:txBody>
      </p:sp>
      <p:sp>
        <p:nvSpPr>
          <p:cNvPr id="9" name="LLM only Recall value"/>
          <p:cNvSpPr txBox="1"/>
          <p:nvPr/>
        </p:nvSpPr>
        <p:spPr>
          <a:xfrm>
            <a:off x="1920240" y="2715768"/>
            <a:ext cx="914400" cy="411480"/>
          </a:xfrm>
          <a:prstGeom prst="rect">
            <a:avLst/>
          </a:prstGeom>
          <a:noFill/>
          <a:ln/>
        </p:spPr>
        <p:txBody>
          <a:bodyPr wrap="square" lIns="0" tIns="0" rIns="0" bIns="0" rtlCol="0" anchor="ctr"/>
          <a:lstStyle/>
          <a:p>
            <a:pPr algn="r" indent="0" marL="0">
              <a:buNone/>
            </a:pPr>
            <a:r>
              <a:rPr lang="en-US" sz="1800" b="1" dirty="0">
                <a:solidFill>
                  <a:schemeClr val="tx1"/>
                </a:solidFill>
              </a:rPr>
              <a:t>0.94</a:t>
            </a:r>
            <a:endParaRPr lang="en-US" sz="1800" dirty="0"/>
          </a:p>
        </p:txBody>
      </p:sp>
      <p:sp>
        <p:nvSpPr>
          <p:cNvPr id="10" name="LLM only False positives label"/>
          <p:cNvSpPr txBox="1"/>
          <p:nvPr/>
        </p:nvSpPr>
        <p:spPr>
          <a:xfrm>
            <a:off x="685800" y="3191256"/>
            <a:ext cx="1325880" cy="411480"/>
          </a:xfrm>
          <a:prstGeom prst="rect">
            <a:avLst/>
          </a:prstGeom>
          <a:noFill/>
          <a:ln/>
        </p:spPr>
        <p:txBody>
          <a:bodyPr wrap="square" lIns="0" tIns="0" rIns="0" bIns="0" rtlCol="0" anchor="ctr"/>
          <a:lstStyle/>
          <a:p>
            <a:pPr indent="0" marL="0">
              <a:buNone/>
            </a:pPr>
            <a:r>
              <a:rPr lang="en-US" sz="1400" dirty="0">
                <a:solidFill>
                  <a:schemeClr val="tx1"/>
                </a:solidFill>
              </a:rPr>
              <a:t>False positives</a:t>
            </a:r>
            <a:endParaRPr lang="en-US" sz="1400" dirty="0"/>
          </a:p>
        </p:txBody>
      </p:sp>
      <p:sp>
        <p:nvSpPr>
          <p:cNvPr id="11" name="LLM only False positives value"/>
          <p:cNvSpPr txBox="1"/>
          <p:nvPr/>
        </p:nvSpPr>
        <p:spPr>
          <a:xfrm>
            <a:off x="1920240" y="3191256"/>
            <a:ext cx="914400" cy="411480"/>
          </a:xfrm>
          <a:prstGeom prst="rect">
            <a:avLst/>
          </a:prstGeom>
          <a:noFill/>
          <a:ln/>
        </p:spPr>
        <p:txBody>
          <a:bodyPr wrap="square" lIns="0" tIns="0" rIns="0" bIns="0" rtlCol="0" anchor="ctr"/>
          <a:lstStyle/>
          <a:p>
            <a:pPr algn="r" indent="0" marL="0">
              <a:buNone/>
            </a:pPr>
            <a:r>
              <a:rPr lang="en-US" sz="1800" b="1" dirty="0">
                <a:solidFill>
                  <a:schemeClr val="tx1"/>
                </a:solidFill>
              </a:rPr>
              <a:t>0 / 70</a:t>
            </a:r>
            <a:endParaRPr lang="en-US" sz="1800" dirty="0"/>
          </a:p>
        </p:txBody>
      </p:sp>
      <p:sp>
        <p:nvSpPr>
          <p:cNvPr id="12" name="LLM only Gemini requests label"/>
          <p:cNvSpPr txBox="1"/>
          <p:nvPr/>
        </p:nvSpPr>
        <p:spPr>
          <a:xfrm>
            <a:off x="685800" y="3666744"/>
            <a:ext cx="1325880" cy="411480"/>
          </a:xfrm>
          <a:prstGeom prst="rect">
            <a:avLst/>
          </a:prstGeom>
          <a:noFill/>
          <a:ln/>
        </p:spPr>
        <p:txBody>
          <a:bodyPr wrap="square" lIns="0" tIns="0" rIns="0" bIns="0" rtlCol="0" anchor="ctr"/>
          <a:lstStyle/>
          <a:p>
            <a:pPr indent="0" marL="0">
              <a:buNone/>
            </a:pPr>
            <a:r>
              <a:rPr lang="en-US" sz="1400" dirty="0">
                <a:solidFill>
                  <a:schemeClr val="tx1"/>
                </a:solidFill>
              </a:rPr>
              <a:t>Gemini requests</a:t>
            </a:r>
            <a:endParaRPr lang="en-US" sz="1400" dirty="0"/>
          </a:p>
        </p:txBody>
      </p:sp>
      <p:sp>
        <p:nvSpPr>
          <p:cNvPr id="13" name="LLM only Gemini requests value"/>
          <p:cNvSpPr txBox="1"/>
          <p:nvPr/>
        </p:nvSpPr>
        <p:spPr>
          <a:xfrm>
            <a:off x="1920240" y="3666744"/>
            <a:ext cx="914400" cy="411480"/>
          </a:xfrm>
          <a:prstGeom prst="rect">
            <a:avLst/>
          </a:prstGeom>
          <a:noFill/>
          <a:ln/>
        </p:spPr>
        <p:txBody>
          <a:bodyPr wrap="square" lIns="0" tIns="0" rIns="0" bIns="0" rtlCol="0" anchor="ctr"/>
          <a:lstStyle/>
          <a:p>
            <a:pPr algn="r" indent="0" marL="0">
              <a:buNone/>
            </a:pPr>
            <a:r>
              <a:rPr lang="en-US" sz="1800" b="1" dirty="0">
                <a:solidFill>
                  <a:schemeClr val="tx1"/>
                </a:solidFill>
              </a:rPr>
              <a:t>100</a:t>
            </a:r>
            <a:endParaRPr lang="en-US" sz="1800" dirty="0"/>
          </a:p>
        </p:txBody>
      </p:sp>
      <p:sp>
        <p:nvSpPr>
          <p:cNvPr id="14" name="Full system column"/>
          <p:cNvSpPr/>
          <p:nvPr/>
        </p:nvSpPr>
        <p:spPr>
          <a:xfrm>
            <a:off x="3246120" y="1234440"/>
            <a:ext cx="2606040" cy="3017520"/>
          </a:xfrm>
          <a:prstGeom prst="roundRect">
            <a:avLst>
              <a:gd name="adj" fmla="val 280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Full system heading"/>
          <p:cNvSpPr txBox="1"/>
          <p:nvPr/>
        </p:nvSpPr>
        <p:spPr>
          <a:xfrm>
            <a:off x="3474720" y="1371600"/>
            <a:ext cx="219456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Full system</a:t>
            </a:r>
            <a:endParaRPr lang="en-US" sz="2000" dirty="0"/>
          </a:p>
        </p:txBody>
      </p:sp>
      <p:sp>
        <p:nvSpPr>
          <p:cNvPr id="16" name="Full system sub"/>
          <p:cNvSpPr txBox="1"/>
          <p:nvPr/>
        </p:nvSpPr>
        <p:spPr>
          <a:xfrm>
            <a:off x="3474720" y="1783080"/>
            <a:ext cx="2194560" cy="320040"/>
          </a:xfrm>
          <a:prstGeom prst="rect">
            <a:avLst/>
          </a:prstGeom>
          <a:noFill/>
          <a:ln/>
        </p:spPr>
        <p:txBody>
          <a:bodyPr wrap="square" lIns="0" tIns="0" rIns="0" bIns="0" rtlCol="0" anchor="t"/>
          <a:lstStyle/>
          <a:p>
            <a:pPr indent="0" marL="0">
              <a:buNone/>
            </a:pPr>
            <a:r>
              <a:rPr lang="en-US" sz="1200" dirty="0">
                <a:solidFill>
                  <a:schemeClr val="accent5"/>
                </a:solidFill>
              </a:rPr>
              <a:t>Three agents + one capped round</a:t>
            </a:r>
            <a:endParaRPr lang="en-US" sz="1200" dirty="0"/>
          </a:p>
        </p:txBody>
      </p:sp>
      <p:sp>
        <p:nvSpPr>
          <p:cNvPr id="17" name="Full system F1 label"/>
          <p:cNvSpPr txBox="1"/>
          <p:nvPr/>
        </p:nvSpPr>
        <p:spPr>
          <a:xfrm>
            <a:off x="3474720" y="2240280"/>
            <a:ext cx="1325880" cy="411480"/>
          </a:xfrm>
          <a:prstGeom prst="rect">
            <a:avLst/>
          </a:prstGeom>
          <a:noFill/>
          <a:ln/>
        </p:spPr>
        <p:txBody>
          <a:bodyPr wrap="square" lIns="0" tIns="0" rIns="0" bIns="0" rtlCol="0" anchor="ctr"/>
          <a:lstStyle/>
          <a:p>
            <a:pPr indent="0" marL="0">
              <a:buNone/>
            </a:pPr>
            <a:r>
              <a:rPr lang="en-US" sz="1400" dirty="0">
                <a:solidFill>
                  <a:schemeClr val="tx1"/>
                </a:solidFill>
              </a:rPr>
              <a:t>F1</a:t>
            </a:r>
            <a:endParaRPr lang="en-US" sz="1400" dirty="0"/>
          </a:p>
        </p:txBody>
      </p:sp>
      <p:sp>
        <p:nvSpPr>
          <p:cNvPr id="18" name="Full system F1 value"/>
          <p:cNvSpPr txBox="1"/>
          <p:nvPr/>
        </p:nvSpPr>
        <p:spPr>
          <a:xfrm>
            <a:off x="4709160" y="2240280"/>
            <a:ext cx="914400" cy="411480"/>
          </a:xfrm>
          <a:prstGeom prst="rect">
            <a:avLst/>
          </a:prstGeom>
          <a:noFill/>
          <a:ln/>
        </p:spPr>
        <p:txBody>
          <a:bodyPr wrap="square" lIns="0" tIns="0" rIns="0" bIns="0" rtlCol="0" anchor="ctr"/>
          <a:lstStyle/>
          <a:p>
            <a:pPr algn="r" indent="0" marL="0">
              <a:buNone/>
            </a:pPr>
            <a:r>
              <a:rPr lang="en-US" sz="1800" b="1" dirty="0">
                <a:solidFill>
                  <a:schemeClr val="tx1"/>
                </a:solidFill>
              </a:rPr>
              <a:t>0.958</a:t>
            </a:r>
            <a:endParaRPr lang="en-US" sz="1800" dirty="0"/>
          </a:p>
        </p:txBody>
      </p:sp>
      <p:sp>
        <p:nvSpPr>
          <p:cNvPr id="19" name="Full system Recall label"/>
          <p:cNvSpPr txBox="1"/>
          <p:nvPr/>
        </p:nvSpPr>
        <p:spPr>
          <a:xfrm>
            <a:off x="3474720" y="2715768"/>
            <a:ext cx="1325880" cy="411480"/>
          </a:xfrm>
          <a:prstGeom prst="rect">
            <a:avLst/>
          </a:prstGeom>
          <a:noFill/>
          <a:ln/>
        </p:spPr>
        <p:txBody>
          <a:bodyPr wrap="square" lIns="0" tIns="0" rIns="0" bIns="0" rtlCol="0" anchor="ctr"/>
          <a:lstStyle/>
          <a:p>
            <a:pPr indent="0" marL="0">
              <a:buNone/>
            </a:pPr>
            <a:r>
              <a:rPr lang="en-US" sz="1400" dirty="0">
                <a:solidFill>
                  <a:schemeClr val="tx1"/>
                </a:solidFill>
              </a:rPr>
              <a:t>Recall</a:t>
            </a:r>
            <a:endParaRPr lang="en-US" sz="1400" dirty="0"/>
          </a:p>
        </p:txBody>
      </p:sp>
      <p:sp>
        <p:nvSpPr>
          <p:cNvPr id="20" name="Full system Recall value"/>
          <p:cNvSpPr txBox="1"/>
          <p:nvPr/>
        </p:nvSpPr>
        <p:spPr>
          <a:xfrm>
            <a:off x="4709160" y="2715768"/>
            <a:ext cx="914400" cy="411480"/>
          </a:xfrm>
          <a:prstGeom prst="rect">
            <a:avLst/>
          </a:prstGeom>
          <a:noFill/>
          <a:ln/>
        </p:spPr>
        <p:txBody>
          <a:bodyPr wrap="square" lIns="0" tIns="0" rIns="0" bIns="0" rtlCol="0" anchor="ctr"/>
          <a:lstStyle/>
          <a:p>
            <a:pPr algn="r" indent="0" marL="0">
              <a:buNone/>
            </a:pPr>
            <a:r>
              <a:rPr lang="en-US" sz="1800" b="1" dirty="0">
                <a:solidFill>
                  <a:schemeClr val="tx1"/>
                </a:solidFill>
              </a:rPr>
              <a:t>0.92</a:t>
            </a:r>
            <a:endParaRPr lang="en-US" sz="1800" dirty="0"/>
          </a:p>
        </p:txBody>
      </p:sp>
      <p:sp>
        <p:nvSpPr>
          <p:cNvPr id="21" name="Full system False positives label"/>
          <p:cNvSpPr txBox="1"/>
          <p:nvPr/>
        </p:nvSpPr>
        <p:spPr>
          <a:xfrm>
            <a:off x="3474720" y="3191256"/>
            <a:ext cx="1325880" cy="411480"/>
          </a:xfrm>
          <a:prstGeom prst="rect">
            <a:avLst/>
          </a:prstGeom>
          <a:noFill/>
          <a:ln/>
        </p:spPr>
        <p:txBody>
          <a:bodyPr wrap="square" lIns="0" tIns="0" rIns="0" bIns="0" rtlCol="0" anchor="ctr"/>
          <a:lstStyle/>
          <a:p>
            <a:pPr indent="0" marL="0">
              <a:buNone/>
            </a:pPr>
            <a:r>
              <a:rPr lang="en-US" sz="1400" dirty="0">
                <a:solidFill>
                  <a:schemeClr val="tx1"/>
                </a:solidFill>
              </a:rPr>
              <a:t>False positives</a:t>
            </a:r>
            <a:endParaRPr lang="en-US" sz="1400" dirty="0"/>
          </a:p>
        </p:txBody>
      </p:sp>
      <p:sp>
        <p:nvSpPr>
          <p:cNvPr id="22" name="Full system False positives value"/>
          <p:cNvSpPr txBox="1"/>
          <p:nvPr/>
        </p:nvSpPr>
        <p:spPr>
          <a:xfrm>
            <a:off x="4709160" y="3191256"/>
            <a:ext cx="914400" cy="411480"/>
          </a:xfrm>
          <a:prstGeom prst="rect">
            <a:avLst/>
          </a:prstGeom>
          <a:noFill/>
          <a:ln/>
        </p:spPr>
        <p:txBody>
          <a:bodyPr wrap="square" lIns="0" tIns="0" rIns="0" bIns="0" rtlCol="0" anchor="ctr"/>
          <a:lstStyle/>
          <a:p>
            <a:pPr algn="r" indent="0" marL="0">
              <a:buNone/>
            </a:pPr>
            <a:r>
              <a:rPr lang="en-US" sz="1800" b="1" dirty="0">
                <a:solidFill>
                  <a:schemeClr val="tx1"/>
                </a:solidFill>
              </a:rPr>
              <a:t>0 / 70</a:t>
            </a:r>
            <a:endParaRPr lang="en-US" sz="1800" dirty="0"/>
          </a:p>
        </p:txBody>
      </p:sp>
      <p:sp>
        <p:nvSpPr>
          <p:cNvPr id="23" name="Full system Gemini requests label"/>
          <p:cNvSpPr txBox="1"/>
          <p:nvPr/>
        </p:nvSpPr>
        <p:spPr>
          <a:xfrm>
            <a:off x="3474720" y="3666744"/>
            <a:ext cx="1325880" cy="411480"/>
          </a:xfrm>
          <a:prstGeom prst="rect">
            <a:avLst/>
          </a:prstGeom>
          <a:noFill/>
          <a:ln/>
        </p:spPr>
        <p:txBody>
          <a:bodyPr wrap="square" lIns="0" tIns="0" rIns="0" bIns="0" rtlCol="0" anchor="ctr"/>
          <a:lstStyle/>
          <a:p>
            <a:pPr indent="0" marL="0">
              <a:buNone/>
            </a:pPr>
            <a:r>
              <a:rPr lang="en-US" sz="1400" dirty="0">
                <a:solidFill>
                  <a:schemeClr val="tx1"/>
                </a:solidFill>
              </a:rPr>
              <a:t>Gemini requests</a:t>
            </a:r>
            <a:endParaRPr lang="en-US" sz="1400" dirty="0"/>
          </a:p>
        </p:txBody>
      </p:sp>
      <p:sp>
        <p:nvSpPr>
          <p:cNvPr id="24" name="Full system Gemini requests value"/>
          <p:cNvSpPr txBox="1"/>
          <p:nvPr/>
        </p:nvSpPr>
        <p:spPr>
          <a:xfrm>
            <a:off x="4709160" y="3666744"/>
            <a:ext cx="914400" cy="411480"/>
          </a:xfrm>
          <a:prstGeom prst="rect">
            <a:avLst/>
          </a:prstGeom>
          <a:noFill/>
          <a:ln/>
        </p:spPr>
        <p:txBody>
          <a:bodyPr wrap="square" lIns="0" tIns="0" rIns="0" bIns="0" rtlCol="0" anchor="ctr"/>
          <a:lstStyle/>
          <a:p>
            <a:pPr algn="r" indent="0" marL="0">
              <a:buNone/>
            </a:pPr>
            <a:r>
              <a:rPr lang="en-US" sz="1800" b="1" dirty="0">
                <a:solidFill>
                  <a:schemeClr val="accent1"/>
                </a:solidFill>
              </a:rPr>
              <a:t>276</a:t>
            </a:r>
            <a:endParaRPr lang="en-US" sz="1800" dirty="0"/>
          </a:p>
        </p:txBody>
      </p:sp>
      <p:sp>
        <p:nvSpPr>
          <p:cNvPr id="25" name="Round stats"/>
          <p:cNvSpPr txBox="1"/>
          <p:nvPr/>
        </p:nvSpPr>
        <p:spPr>
          <a:xfrm>
            <a:off x="6263640" y="1234440"/>
            <a:ext cx="2423160" cy="3017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38</a:t>
            </a:r>
            <a:endParaRPr lang="en-US" sz="1400" dirty="0"/>
          </a:p>
          <a:p>
            <a:pPr indent="0" marL="0">
              <a:buNone/>
            </a:pPr>
            <a:r>
              <a:rPr lang="en-US" sz="1400" dirty="0">
                <a:solidFill>
                  <a:schemeClr val="tx1"/>
                </a:solidFill>
              </a:rPr>
              <a:t>disagreement rounds on 100 emails</a:t>
            </a:r>
            <a:endParaRPr lang="en-US" sz="1400" dirty="0"/>
          </a:p>
          <a:p>
            <a:pPr indent="0" marL="0">
              <a:buNone/>
            </a:pPr>
            <a:r>
              <a:rPr lang="en-US" sz="800" dirty="0">
                <a:solidFill>
                  <a:schemeClr val="tx1"/>
                </a:solidFill>
              </a:rPr>
              <a:t> </a:t>
            </a:r>
            <a:endParaRPr lang="en-US" sz="1400" dirty="0"/>
          </a:p>
          <a:p>
            <a:pPr indent="0" marL="0">
              <a:buNone/>
            </a:pPr>
            <a:r>
              <a:rPr lang="en-US" sz="4000" b="1" dirty="0">
                <a:solidFill>
                  <a:schemeClr val="accent1"/>
                </a:solidFill>
                <a:latin typeface="Cambria" pitchFamily="34" charset="0"/>
                <a:ea typeface="Cambria" pitchFamily="34" charset="-122"/>
                <a:cs typeface="Cambria" pitchFamily="34" charset="-120"/>
              </a:rPr>
              <a:t>4</a:t>
            </a:r>
            <a:endParaRPr lang="en-US" sz="1400" dirty="0"/>
          </a:p>
          <a:p>
            <a:pPr indent="0" marL="0">
              <a:buNone/>
            </a:pPr>
            <a:r>
              <a:rPr lang="en-US" sz="1400" dirty="0">
                <a:solidFill>
                  <a:schemeClr val="tx1"/>
                </a:solidFill>
              </a:rPr>
              <a:t>label changes, 3 of them lowering the score</a:t>
            </a:r>
            <a:endParaRPr lang="en-US" sz="1400" dirty="0"/>
          </a:p>
        </p:txBody>
      </p:sp>
      <p:sp>
        <p:nvSpPr>
          <p:cNvPr id="26" name="Cost note"/>
          <p:cNvSpPr txBox="1"/>
          <p:nvPr/>
        </p:nvSpPr>
        <p:spPr>
          <a:xfrm>
            <a:off x="457200" y="4389120"/>
            <a:ext cx="5486400" cy="320040"/>
          </a:xfrm>
          <a:prstGeom prst="rect">
            <a:avLst/>
          </a:prstGeom>
          <a:noFill/>
          <a:ln/>
        </p:spPr>
        <p:txBody>
          <a:bodyPr wrap="square" lIns="0" tIns="0" rIns="0" bIns="0" rtlCol="0" anchor="t"/>
          <a:lstStyle/>
          <a:p>
            <a:pPr indent="0" marL="0">
              <a:buNone/>
            </a:pPr>
            <a:r>
              <a:rPr lang="en-US" sz="1400" b="1" dirty="0">
                <a:solidFill>
                  <a:schemeClr val="tx2"/>
                </a:solidFill>
              </a:rPr>
              <a:t>2.8 times the requests for slightly lower recall.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rPr>
              <a:t>Where it goes wrong: four misses</a:t>
            </a:r>
            <a:endParaRPr lang="en-US" sz="3000" dirty="0"/>
          </a:p>
        </p:txBody>
      </p:sp>
      <p:sp>
        <p:nvSpPr>
          <p:cNvPr id="3" name="Misses intro"/>
          <p:cNvSpPr txBox="1"/>
          <p:nvPr/>
        </p:nvSpPr>
        <p:spPr>
          <a:xfrm>
            <a:off x="457200" y="1051560"/>
            <a:ext cx="8229600" cy="365760"/>
          </a:xfrm>
          <a:prstGeom prst="rect">
            <a:avLst/>
          </a:prstGeom>
          <a:noFill/>
          <a:ln/>
        </p:spPr>
        <p:txBody>
          <a:bodyPr wrap="square" lIns="0" tIns="0" rIns="0" bIns="0" rtlCol="0" anchor="t"/>
          <a:lstStyle/>
          <a:p>
            <a:pPr indent="0" marL="0">
              <a:buNone/>
            </a:pPr>
            <a:r>
              <a:rPr lang="en-US" sz="1400" dirty="0">
                <a:solidFill>
                  <a:schemeClr val="accent5"/>
                </a:solidFill>
              </a:rPr>
              <a:t>The full system missed 4 of 50 phishing emails. LLM-only missed 3 of the same 4.</a:t>
            </a:r>
            <a:endParaRPr lang="en-US" sz="1400" dirty="0"/>
          </a:p>
        </p:txBody>
      </p:sp>
      <p:sp>
        <p:nvSpPr>
          <p:cNvPr id="4" name="Pattern card 1"/>
          <p:cNvSpPr/>
          <p:nvPr/>
        </p:nvSpPr>
        <p:spPr>
          <a:xfrm>
            <a:off x="457200" y="1554480"/>
            <a:ext cx="2606040" cy="2743200"/>
          </a:xfrm>
          <a:prstGeom prst="roundRect">
            <a:avLst>
              <a:gd name="adj" fmla="val 280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Pattern 1 stat"/>
          <p:cNvSpPr txBox="1"/>
          <p:nvPr/>
        </p:nvSpPr>
        <p:spPr>
          <a:xfrm>
            <a:off x="685800" y="1691640"/>
            <a:ext cx="2194560"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 of 4</a:t>
            </a:r>
            <a:endParaRPr lang="en-US" sz="3200" dirty="0"/>
          </a:p>
        </p:txBody>
      </p:sp>
      <p:sp>
        <p:nvSpPr>
          <p:cNvPr id="6" name="Pattern 1 heading"/>
          <p:cNvSpPr txBox="1"/>
          <p:nvPr/>
        </p:nvSpPr>
        <p:spPr>
          <a:xfrm>
            <a:off x="685800" y="2377440"/>
            <a:ext cx="2194560" cy="594360"/>
          </a:xfrm>
          <a:prstGeom prst="rect">
            <a:avLst/>
          </a:prstGeom>
          <a:noFill/>
          <a:ln/>
        </p:spPr>
        <p:txBody>
          <a:bodyPr wrap="square" lIns="0" tIns="0" rIns="0" bIns="0" rtlCol="0" anchor="t"/>
          <a:lstStyle/>
          <a:p>
            <a:pPr indent="0" marL="0">
              <a:buNone/>
            </a:pPr>
            <a:r>
              <a:rPr lang="en-US" sz="1500" b="1" dirty="0">
                <a:solidFill>
                  <a:schemeClr val="tx1"/>
                </a:solidFill>
              </a:rPr>
              <a:t>Passing authentication read as reassurance</a:t>
            </a:r>
            <a:endParaRPr lang="en-US" sz="1500" dirty="0"/>
          </a:p>
        </p:txBody>
      </p:sp>
      <p:sp>
        <p:nvSpPr>
          <p:cNvPr id="7" name="Pattern 1 body"/>
          <p:cNvSpPr txBox="1"/>
          <p:nvPr/>
        </p:nvSpPr>
        <p:spPr>
          <a:xfrm>
            <a:off x="685800" y="3017520"/>
            <a:ext cx="2194560" cy="1188720"/>
          </a:xfrm>
          <a:prstGeom prst="rect">
            <a:avLst/>
          </a:prstGeom>
          <a:noFill/>
          <a:ln/>
        </p:spPr>
        <p:txBody>
          <a:bodyPr wrap="square" lIns="0" tIns="0" rIns="0" bIns="0" rtlCol="0" anchor="t"/>
          <a:lstStyle/>
          <a:p>
            <a:pPr indent="0" marL="0">
              <a:buNone/>
            </a:pPr>
            <a:r>
              <a:rPr lang="en-US" sz="1200" dirty="0">
                <a:solidFill>
                  <a:schemeClr val="tx1"/>
                </a:solidFill>
              </a:rPr>
              <a:t>The first reason cites SPF/DKIM/DMARC passing. Passing only proves who sent it, not that it's safe.</a:t>
            </a:r>
            <a:endParaRPr lang="en-US" sz="1200" dirty="0"/>
          </a:p>
        </p:txBody>
      </p:sp>
      <p:sp>
        <p:nvSpPr>
          <p:cNvPr id="8" name="Pattern card 2"/>
          <p:cNvSpPr/>
          <p:nvPr/>
        </p:nvSpPr>
        <p:spPr>
          <a:xfrm>
            <a:off x="3246120" y="1554480"/>
            <a:ext cx="2606040" cy="2743200"/>
          </a:xfrm>
          <a:prstGeom prst="roundRect">
            <a:avLst>
              <a:gd name="adj" fmla="val 280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Pattern 2 stat"/>
          <p:cNvSpPr txBox="1"/>
          <p:nvPr/>
        </p:nvSpPr>
        <p:spPr>
          <a:xfrm>
            <a:off x="3474720" y="1691640"/>
            <a:ext cx="2194560"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50 → 35</a:t>
            </a:r>
            <a:endParaRPr lang="en-US" sz="3200" dirty="0"/>
          </a:p>
        </p:txBody>
      </p:sp>
      <p:sp>
        <p:nvSpPr>
          <p:cNvPr id="10" name="Pattern 2 heading"/>
          <p:cNvSpPr txBox="1"/>
          <p:nvPr/>
        </p:nvSpPr>
        <p:spPr>
          <a:xfrm>
            <a:off x="3474720" y="2377440"/>
            <a:ext cx="2194560" cy="594360"/>
          </a:xfrm>
          <a:prstGeom prst="rect">
            <a:avLst/>
          </a:prstGeom>
          <a:noFill/>
          <a:ln/>
        </p:spPr>
        <p:txBody>
          <a:bodyPr wrap="square" lIns="0" tIns="0" rIns="0" bIns="0" rtlCol="0" anchor="t"/>
          <a:lstStyle/>
          <a:p>
            <a:pPr indent="0" marL="0">
              <a:buNone/>
            </a:pPr>
            <a:r>
              <a:rPr lang="en-US" sz="1500" b="1" dirty="0">
                <a:solidFill>
                  <a:schemeClr val="tx1"/>
                </a:solidFill>
              </a:rPr>
              <a:t>The follow-up round caused a miss</a:t>
            </a:r>
            <a:endParaRPr lang="en-US" sz="1500" dirty="0"/>
          </a:p>
        </p:txBody>
      </p:sp>
      <p:sp>
        <p:nvSpPr>
          <p:cNvPr id="11" name="Pattern 2 body"/>
          <p:cNvSpPr txBox="1"/>
          <p:nvPr/>
        </p:nvSpPr>
        <p:spPr>
          <a:xfrm>
            <a:off x="3474720" y="3017520"/>
            <a:ext cx="2194560" cy="1188720"/>
          </a:xfrm>
          <a:prstGeom prst="rect">
            <a:avLst/>
          </a:prstGeom>
          <a:noFill/>
          <a:ln/>
        </p:spPr>
        <p:txBody>
          <a:bodyPr wrap="square" lIns="0" tIns="0" rIns="0" bIns="0" rtlCol="0" anchor="t"/>
          <a:lstStyle/>
          <a:p>
            <a:pPr indent="0" marL="0">
              <a:buNone/>
            </a:pPr>
            <a:r>
              <a:rPr lang="en-US" sz="1200" dirty="0">
                <a:solidFill>
                  <a:schemeClr val="tx1"/>
                </a:solidFill>
              </a:rPr>
              <a:t>MetaMask lure: the Verdict agent asked the Content Analyst, accepted its benign reading, and lowered the score.</a:t>
            </a:r>
            <a:endParaRPr lang="en-US" sz="1200" dirty="0"/>
          </a:p>
        </p:txBody>
      </p:sp>
      <p:sp>
        <p:nvSpPr>
          <p:cNvPr id="12" name="Pattern card 3"/>
          <p:cNvSpPr/>
          <p:nvPr/>
        </p:nvSpPr>
        <p:spPr>
          <a:xfrm>
            <a:off x="6035040" y="1554480"/>
            <a:ext cx="2606040" cy="2743200"/>
          </a:xfrm>
          <a:prstGeom prst="roundRect">
            <a:avLst>
              <a:gd name="adj" fmla="val 280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Pattern 3 stat"/>
          <p:cNvSpPr txBox="1"/>
          <p:nvPr/>
        </p:nvSpPr>
        <p:spPr>
          <a:xfrm>
            <a:off x="6263640" y="1691640"/>
            <a:ext cx="2194560"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.htm</a:t>
            </a:r>
            <a:endParaRPr lang="en-US" sz="3200" dirty="0"/>
          </a:p>
        </p:txBody>
      </p:sp>
      <p:sp>
        <p:nvSpPr>
          <p:cNvPr id="14" name="Pattern 3 heading"/>
          <p:cNvSpPr txBox="1"/>
          <p:nvPr/>
        </p:nvSpPr>
        <p:spPr>
          <a:xfrm>
            <a:off x="6263640" y="2377440"/>
            <a:ext cx="2194560" cy="594360"/>
          </a:xfrm>
          <a:prstGeom prst="rect">
            <a:avLst/>
          </a:prstGeom>
          <a:noFill/>
          <a:ln/>
        </p:spPr>
        <p:txBody>
          <a:bodyPr wrap="square" lIns="0" tIns="0" rIns="0" bIns="0" rtlCol="0" anchor="t"/>
          <a:lstStyle/>
          <a:p>
            <a:pPr indent="0" marL="0">
              <a:buNone/>
            </a:pPr>
            <a:r>
              <a:rPr lang="en-US" sz="1500" b="1" dirty="0">
                <a:solidFill>
                  <a:schemeClr val="tx1"/>
                </a:solidFill>
              </a:rPr>
              <a:t>Attachments are never read</a:t>
            </a:r>
            <a:endParaRPr lang="en-US" sz="1500" dirty="0"/>
          </a:p>
        </p:txBody>
      </p:sp>
      <p:sp>
        <p:nvSpPr>
          <p:cNvPr id="15" name="Pattern 3 body"/>
          <p:cNvSpPr txBox="1"/>
          <p:nvPr/>
        </p:nvSpPr>
        <p:spPr>
          <a:xfrm>
            <a:off x="6263640" y="3017520"/>
            <a:ext cx="2194560" cy="1188720"/>
          </a:xfrm>
          <a:prstGeom prst="rect">
            <a:avLst/>
          </a:prstGeom>
          <a:noFill/>
          <a:ln/>
        </p:spPr>
        <p:txBody>
          <a:bodyPr wrap="square" lIns="0" tIns="0" rIns="0" bIns="0" rtlCol="0" anchor="t"/>
          <a:lstStyle/>
          <a:p>
            <a:pPr indent="0" marL="0">
              <a:buNone/>
            </a:pPr>
            <a:r>
              <a:rPr lang="en-US" sz="1200" dirty="0">
                <a:solidFill>
                  <a:schemeClr val="tx1"/>
                </a:solidFill>
              </a:rPr>
              <a:t>One phish carried its attack in an HTML attachment. The parser only reads body parts.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accent1"/>
                </a:solidFill>
              </a:rPr>
              <a:t>Explanations are good when the verdict is right</a:t>
            </a:r>
            <a:endParaRPr lang="en-US" sz="3000" dirty="0"/>
          </a:p>
        </p:txBody>
      </p:sp>
      <p:sp>
        <p:nvSpPr>
          <p:cNvPr id="3" name="Score card 1"/>
          <p:cNvSpPr/>
          <p:nvPr/>
        </p:nvSpPr>
        <p:spPr>
          <a:xfrm>
            <a:off x="457200" y="1234440"/>
            <a:ext cx="219456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core 1"/>
          <p:cNvSpPr txBox="1"/>
          <p:nvPr/>
        </p:nvSpPr>
        <p:spPr>
          <a:xfrm>
            <a:off x="640080" y="1371600"/>
            <a:ext cx="1828800" cy="1097280"/>
          </a:xfrm>
          <a:prstGeom prst="rect">
            <a:avLst/>
          </a:prstGeom>
          <a:noFill/>
          <a:ln/>
        </p:spPr>
        <p:txBody>
          <a:bodyPr wrap="square" lIns="0" tIns="0" rIns="0" bIns="0" rtlCol="0" anchor="ctr"/>
          <a:lstStyle/>
          <a:p>
            <a:pPr indent="0" marL="0">
              <a:buNone/>
            </a:pPr>
            <a:r>
              <a:rPr lang="en-US" sz="5000" b="1" dirty="0">
                <a:solidFill>
                  <a:schemeClr val="accent6"/>
                </a:solidFill>
                <a:latin typeface="Cambria" pitchFamily="34" charset="0"/>
                <a:ea typeface="Cambria" pitchFamily="34" charset="-122"/>
                <a:cs typeface="Cambria" pitchFamily="34" charset="-120"/>
              </a:rPr>
              <a:t>8.75</a:t>
            </a:r>
            <a:pPr indent="0" marL="0">
              <a:buNone/>
            </a:pPr>
            <a:r>
              <a:rPr lang="en-US" sz="2000" dirty="0">
                <a:solidFill>
                  <a:schemeClr val="accent5"/>
                </a:solidFill>
              </a:rPr>
              <a:t> / 9</a:t>
            </a:r>
            <a:endParaRPr lang="en-US" sz="1400" dirty="0"/>
          </a:p>
        </p:txBody>
      </p:sp>
      <p:sp>
        <p:nvSpPr>
          <p:cNvPr id="5" name="Score 1 label"/>
          <p:cNvSpPr txBox="1"/>
          <p:nvPr/>
        </p:nvSpPr>
        <p:spPr>
          <a:xfrm>
            <a:off x="640080" y="2514600"/>
            <a:ext cx="1828800" cy="548640"/>
          </a:xfrm>
          <a:prstGeom prst="rect">
            <a:avLst/>
          </a:prstGeom>
          <a:noFill/>
          <a:ln/>
        </p:spPr>
        <p:txBody>
          <a:bodyPr wrap="square" lIns="0" tIns="0" rIns="0" bIns="0" rtlCol="0" anchor="t"/>
          <a:lstStyle/>
          <a:p>
            <a:pPr indent="0" marL="0">
              <a:buNone/>
            </a:pPr>
            <a:r>
              <a:rPr lang="en-US" sz="1400" dirty="0">
                <a:solidFill>
                  <a:schemeClr val="tx1"/>
                </a:solidFill>
              </a:rPr>
              <a:t>4 correct verdicts</a:t>
            </a:r>
            <a:endParaRPr lang="en-US" sz="1400" dirty="0"/>
          </a:p>
        </p:txBody>
      </p:sp>
      <p:sp>
        <p:nvSpPr>
          <p:cNvPr id="6" name="Score card 2"/>
          <p:cNvSpPr/>
          <p:nvPr/>
        </p:nvSpPr>
        <p:spPr>
          <a:xfrm>
            <a:off x="2834640" y="1234440"/>
            <a:ext cx="219456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Score 2"/>
          <p:cNvSpPr txBox="1"/>
          <p:nvPr/>
        </p:nvSpPr>
        <p:spPr>
          <a:xfrm>
            <a:off x="3017520" y="1371600"/>
            <a:ext cx="1828800" cy="1097280"/>
          </a:xfrm>
          <a:prstGeom prst="rect">
            <a:avLst/>
          </a:prstGeom>
          <a:noFill/>
          <a:ln/>
        </p:spPr>
        <p:txBody>
          <a:bodyPr wrap="square" lIns="0" tIns="0" rIns="0" bIns="0" rtlCol="0" anchor="ctr"/>
          <a:lstStyle/>
          <a:p>
            <a:pPr indent="0" marL="0">
              <a:buNone/>
            </a:pPr>
            <a:r>
              <a:rPr lang="en-US" sz="5000" b="1" dirty="0">
                <a:solidFill>
                  <a:schemeClr val="accent1"/>
                </a:solidFill>
                <a:latin typeface="Cambria" pitchFamily="34" charset="0"/>
                <a:ea typeface="Cambria" pitchFamily="34" charset="-122"/>
                <a:cs typeface="Cambria" pitchFamily="34" charset="-120"/>
              </a:rPr>
              <a:t>5.5</a:t>
            </a:r>
            <a:pPr indent="0" marL="0">
              <a:buNone/>
            </a:pPr>
            <a:r>
              <a:rPr lang="en-US" sz="2000" dirty="0">
                <a:solidFill>
                  <a:schemeClr val="accent5"/>
                </a:solidFill>
              </a:rPr>
              <a:t> / 9</a:t>
            </a:r>
            <a:endParaRPr lang="en-US" sz="1400" dirty="0"/>
          </a:p>
        </p:txBody>
      </p:sp>
      <p:sp>
        <p:nvSpPr>
          <p:cNvPr id="8" name="Score 2 label"/>
          <p:cNvSpPr txBox="1"/>
          <p:nvPr/>
        </p:nvSpPr>
        <p:spPr>
          <a:xfrm>
            <a:off x="3017520" y="2514600"/>
            <a:ext cx="1828800" cy="548640"/>
          </a:xfrm>
          <a:prstGeom prst="rect">
            <a:avLst/>
          </a:prstGeom>
          <a:noFill/>
          <a:ln/>
        </p:spPr>
        <p:txBody>
          <a:bodyPr wrap="square" lIns="0" tIns="0" rIns="0" bIns="0" rtlCol="0" anchor="t"/>
          <a:lstStyle/>
          <a:p>
            <a:pPr indent="0" marL="0">
              <a:buNone/>
            </a:pPr>
            <a:r>
              <a:rPr lang="en-US" sz="1400" dirty="0">
                <a:solidFill>
                  <a:schemeClr val="tx1"/>
                </a:solidFill>
              </a:rPr>
              <a:t>2 missed phishing emails</a:t>
            </a:r>
            <a:endParaRPr lang="en-US" sz="1400" dirty="0"/>
          </a:p>
        </p:txBody>
      </p:sp>
      <p:sp>
        <p:nvSpPr>
          <p:cNvPr id="9" name="Rubric heading"/>
          <p:cNvSpPr txBox="1"/>
          <p:nvPr/>
        </p:nvSpPr>
        <p:spPr>
          <a:xfrm>
            <a:off x="5349240" y="1234440"/>
            <a:ext cx="3337560" cy="365760"/>
          </a:xfrm>
          <a:prstGeom prst="rect">
            <a:avLst/>
          </a:prstGeom>
          <a:noFill/>
          <a:ln/>
        </p:spPr>
        <p:txBody>
          <a:bodyPr wrap="square" lIns="0" tIns="0" rIns="0" bIns="0" rtlCol="0" anchor="t"/>
          <a:lstStyle/>
          <a:p>
            <a:pPr indent="0" marL="0">
              <a:buNone/>
            </a:pPr>
            <a:r>
              <a:rPr lang="en-US" sz="1400" b="1" dirty="0">
                <a:solidFill>
                  <a:schemeClr val="tx1"/>
                </a:solidFill>
              </a:rPr>
              <a:t>Each of six verdicts scored 1–3 on:</a:t>
            </a:r>
            <a:endParaRPr lang="en-US" sz="1400" dirty="0"/>
          </a:p>
        </p:txBody>
      </p:sp>
      <p:sp>
        <p:nvSpPr>
          <p:cNvPr id="10" name="Rubric list"/>
          <p:cNvSpPr txBox="1"/>
          <p:nvPr/>
        </p:nvSpPr>
        <p:spPr>
          <a:xfrm>
            <a:off x="5349240" y="1645920"/>
            <a:ext cx="33375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Grounded: is the evidence real, and does it cover what matters?</a:t>
            </a:r>
            <a:endParaRPr lang="en-US" sz="1400" dirty="0"/>
          </a:p>
          <a:p>
            <a:pPr marL="342900" indent="-342900">
              <a:spcAft>
                <a:spcPts val="600"/>
              </a:spcAft>
              <a:buSzPct val="100000"/>
              <a:buChar char="•"/>
            </a:pPr>
            <a:r>
              <a:rPr lang="en-US" sz="1400" dirty="0">
                <a:solidFill>
                  <a:schemeClr val="tx1"/>
                </a:solidFill>
              </a:rPr>
              <a:t>Understandable: do the reasons agree with the verdict?</a:t>
            </a:r>
            <a:endParaRPr lang="en-US" sz="1400" dirty="0"/>
          </a:p>
          <a:p>
            <a:pPr marL="342900" indent="-342900">
              <a:spcAft>
                <a:spcPts val="600"/>
              </a:spcAft>
              <a:buSzPct val="100000"/>
              <a:buChar char="•"/>
            </a:pPr>
            <a:r>
              <a:rPr lang="en-US" sz="1400" dirty="0">
                <a:solidFill>
                  <a:schemeClr val="tx1"/>
                </a:solidFill>
              </a:rPr>
              <a:t>Action: is the advice right for what the email really is?</a:t>
            </a:r>
            <a:endParaRPr lang="en-US" sz="1400" dirty="0"/>
          </a:p>
        </p:txBody>
      </p:sp>
      <p:sp>
        <p:nvSpPr>
          <p:cNvPr id="11" name="Rubric caveat"/>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200" dirty="0">
                <a:solidFill>
                  <a:schemeClr val="accent5"/>
                </a:solidFill>
              </a:rPr>
              <a:t>One rater (Claude) with no inter-rater check, so this is an illustration, not a measurement. Worst case: “No action is needed” on a credential-phishing attachment.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Takeaways and next steps</a:t>
            </a:r>
            <a:endParaRPr lang="en-US" sz="3000" dirty="0"/>
          </a:p>
        </p:txBody>
      </p:sp>
      <p:sp>
        <p:nvSpPr>
          <p:cNvPr id="3" name="Takeaways heading"/>
          <p:cNvSpPr txBox="1"/>
          <p:nvPr/>
        </p:nvSpPr>
        <p:spPr>
          <a:xfrm>
            <a:off x="457200" y="1234440"/>
            <a:ext cx="3840480" cy="41148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Takeaways</a:t>
            </a:r>
            <a:endParaRPr lang="en-US" sz="2000" dirty="0"/>
          </a:p>
        </p:txBody>
      </p:sp>
      <p:sp>
        <p:nvSpPr>
          <p:cNvPr id="4" name="Takeaways list"/>
          <p:cNvSpPr txBox="1"/>
          <p:nvPr/>
        </p:nvSpPr>
        <p:spPr>
          <a:xfrm>
            <a:off x="457200" y="1691640"/>
            <a:ext cx="38404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A high F1 can hide a shortcut. Test on data the model hasn't seen the like of</a:t>
            </a:r>
            <a:endParaRPr lang="en-US" sz="1500" dirty="0"/>
          </a:p>
          <a:p>
            <a:pPr marL="342900" indent="-342900">
              <a:spcAft>
                <a:spcPts val="800"/>
              </a:spcAft>
              <a:buSzPct val="100000"/>
              <a:buChar char="•"/>
            </a:pPr>
            <a:r>
              <a:rPr lang="en-US" sz="1500" dirty="0">
                <a:solidFill>
                  <a:schemeClr val="bg1"/>
                </a:solidFill>
              </a:rPr>
              <a:t>One well-prompted LLM call is the best trade-off here</a:t>
            </a:r>
            <a:endParaRPr lang="en-US" sz="1500" dirty="0"/>
          </a:p>
          <a:p>
            <a:pPr marL="342900" indent="-342900">
              <a:spcAft>
                <a:spcPts val="800"/>
              </a:spcAft>
              <a:buSzPct val="100000"/>
              <a:buChar char="•"/>
            </a:pPr>
            <a:r>
              <a:rPr lang="en-US" sz="1500" dirty="0">
                <a:solidFill>
                  <a:schemeClr val="bg1"/>
                </a:solidFill>
              </a:rPr>
              <a:t>Agents give a clearer audit trail, but the follow-up round doesn't pay for itself yet</a:t>
            </a:r>
            <a:endParaRPr lang="en-US" sz="1500" dirty="0"/>
          </a:p>
        </p:txBody>
      </p:sp>
      <p:sp>
        <p:nvSpPr>
          <p:cNvPr id="5" name="Next heading"/>
          <p:cNvSpPr txBox="1"/>
          <p:nvPr/>
        </p:nvSpPr>
        <p:spPr>
          <a:xfrm>
            <a:off x="4846320" y="1234440"/>
            <a:ext cx="3840480" cy="41148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Next steps</a:t>
            </a:r>
            <a:endParaRPr lang="en-US" sz="2000" dirty="0"/>
          </a:p>
        </p:txBody>
      </p:sp>
      <p:sp>
        <p:nvSpPr>
          <p:cNvPr id="6" name="Next list"/>
          <p:cNvSpPr txBox="1"/>
          <p:nvPr/>
        </p:nvSpPr>
        <p:spPr>
          <a:xfrm>
            <a:off x="4846320" y="1691640"/>
            <a:ext cx="38404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Keep the higher score when a follow-up only offers a benign explanation</a:t>
            </a:r>
            <a:endParaRPr lang="en-US" sz="1500" dirty="0"/>
          </a:p>
          <a:p>
            <a:pPr marL="342900" indent="-342900">
              <a:spcAft>
                <a:spcPts val="800"/>
              </a:spcAft>
              <a:buSzPct val="100000"/>
              <a:buChar char="•"/>
            </a:pPr>
            <a:r>
              <a:rPr lang="en-US" sz="1500" dirty="0">
                <a:solidFill>
                  <a:schemeClr val="bg1"/>
                </a:solidFill>
              </a:rPr>
              <a:t>Treat passing authentication as neutral</a:t>
            </a:r>
            <a:endParaRPr lang="en-US" sz="1500" dirty="0"/>
          </a:p>
          <a:p>
            <a:pPr marL="342900" indent="-342900">
              <a:spcAft>
                <a:spcPts val="800"/>
              </a:spcAft>
              <a:buSzPct val="100000"/>
              <a:buChar char="•"/>
            </a:pPr>
            <a:r>
              <a:rPr lang="en-US" sz="1500" dirty="0">
                <a:solidFill>
                  <a:schemeClr val="bg1"/>
                </a:solidFill>
              </a:rPr>
              <a:t>Read HTML and text attachments</a:t>
            </a:r>
            <a:endParaRPr lang="en-US" sz="1500" dirty="0"/>
          </a:p>
          <a:p>
            <a:pPr marL="342900" indent="-342900">
              <a:spcAft>
                <a:spcPts val="800"/>
              </a:spcAft>
              <a:buSzPct val="100000"/>
              <a:buChar char="•"/>
            </a:pPr>
            <a:r>
              <a:rPr lang="en-US" sz="1500" dirty="0">
                <a:solidFill>
                  <a:schemeClr val="bg1"/>
                </a:solidFill>
              </a:rPr>
              <a:t>Test on same-era, real legitimate mail</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Phishing Berry">
  <a:themeElements>
    <a:clrScheme name="Phishing Berry">
      <a:dk1>
        <a:srgbClr val="1E1A1C"/>
      </a:dk1>
      <a:lt1>
        <a:srgbClr val="FFFFFF"/>
      </a:lt1>
      <a:dk2>
        <a:srgbClr val="4A1E30"/>
      </a:dk2>
      <a:lt2>
        <a:srgbClr val="F5EEF1"/>
      </a:lt2>
      <a:accent1>
        <a:srgbClr val="6D2E46"/>
      </a:accent1>
      <a:accent2>
        <a:srgbClr val="A26769"/>
      </a:accent2>
      <a:accent3>
        <a:srgbClr val="2F3C7E"/>
      </a:accent3>
      <a:accent4>
        <a:srgbClr val="D9C5CD"/>
      </a:accent4>
      <a:accent5>
        <a:srgbClr val="6B6B6B"/>
      </a:accent5>
      <a:accent6>
        <a:srgbClr val="3C7D5A"/>
      </a:accent6>
      <a:hlink>
        <a:srgbClr val="2F3C7E"/>
      </a:hlink>
      <a:folHlink>
        <a:srgbClr val="A26769"/>
      </a:folHlink>
    </a:clrScheme>
    <a:fontScheme name="Phishing Ber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Phishing Email Detection and Explanation</dc:title>
  <dc:subject>PptxGenJS Presentation</dc:subject>
  <dc:creator>PptxGenJS</dc:creator>
  <cp:lastModifiedBy>PptxGenJS</cp:lastModifiedBy>
  <cp:revision>1</cp:revision>
  <dcterms:created xsi:type="dcterms:W3CDTF">2026-10-24T11:13:15Z</dcterms:created>
  <dcterms:modified xsi:type="dcterms:W3CDTF">2026-10-24T11:13:15Z</dcterms:modified>
</cp:coreProperties>
</file>